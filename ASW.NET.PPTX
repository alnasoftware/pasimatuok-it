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67" r:id="rId3"/>
    <p:sldId id="257" r:id="rId4"/>
    <p:sldId id="273" r:id="rId5"/>
    <p:sldId id="260" r:id="rId6"/>
    <p:sldId id="261" r:id="rId7"/>
    <p:sldId id="259" r:id="rId8"/>
    <p:sldId id="272" r:id="rId9"/>
    <p:sldId id="262" r:id="rId10"/>
    <p:sldId id="263" r:id="rId11"/>
    <p:sldId id="264" r:id="rId12"/>
    <p:sldId id="274" r:id="rId13"/>
    <p:sldId id="265" r:id="rId14"/>
    <p:sldId id="266" r:id="rId15"/>
    <p:sldId id="268" r:id="rId16"/>
    <p:sldId id="269" r:id="rId17"/>
    <p:sldId id="271" r:id="rId18"/>
    <p:sldId id="270" r:id="rId19"/>
    <p:sldId id="275" r:id="rId20"/>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33" autoAdjust="0"/>
    <p:restoredTop sz="76574" autoAdjust="0"/>
  </p:normalViewPr>
  <p:slideViewPr>
    <p:cSldViewPr snapToGrid="0" snapToObjects="1">
      <p:cViewPr varScale="1">
        <p:scale>
          <a:sx n="101" d="100"/>
          <a:sy n="101" d="100"/>
        </p:scale>
        <p:origin x="774" y="11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4" d="100"/>
          <a:sy n="64" d="100"/>
        </p:scale>
        <p:origin x="296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lt-LT"/>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0D08BA40-9B6E-4575-B189-A623BE3FABC0}" type="datetimeFigureOut">
              <a:rPr lang="lt-LT" smtClean="0"/>
              <a:t>2017.11.21</a:t>
            </a:fld>
            <a:endParaRPr lang="lt-LT"/>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lt-LT"/>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t-LT"/>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lt-LT"/>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417CB601-C568-4016-9959-7728439A5581}" type="slidenum">
              <a:rPr lang="lt-LT" smtClean="0"/>
              <a:t>‹#›</a:t>
            </a:fld>
            <a:endParaRPr lang="lt-LT"/>
          </a:p>
        </p:txBody>
      </p:sp>
    </p:spTree>
    <p:extLst>
      <p:ext uri="{BB962C8B-B14F-4D97-AF65-F5344CB8AC3E}">
        <p14:creationId xmlns:p14="http://schemas.microsoft.com/office/powerpoint/2010/main" val="3511974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en.wikipedia.org/wiki/Free_and_open-source"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en.wikipedia.org/wiki/Just-in-time_compiler" TargetMode="External"/><Relationship Id="rId4" Type="http://schemas.openxmlformats.org/officeDocument/2006/relationships/hyperlink" Target="https://en.wikipedia.org/wiki/Common_Language_Runtim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2</a:t>
            </a:fld>
            <a:endParaRPr lang="lt-LT"/>
          </a:p>
        </p:txBody>
      </p:sp>
    </p:spTree>
    <p:extLst>
      <p:ext uri="{BB962C8B-B14F-4D97-AF65-F5344CB8AC3E}">
        <p14:creationId xmlns:p14="http://schemas.microsoft.com/office/powerpoint/2010/main" val="28910665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dirty="0" smtClean="0"/>
              <a:t>METIS (</a:t>
            </a:r>
            <a:r>
              <a:rPr lang="lt-LT" dirty="0" err="1" smtClean="0"/>
              <a:t>DevExpress</a:t>
            </a:r>
            <a:r>
              <a:rPr lang="lt-LT" dirty="0" smtClean="0"/>
              <a:t>, </a:t>
            </a:r>
            <a:r>
              <a:rPr lang="lt-LT" dirty="0" err="1" smtClean="0"/>
              <a:t>Oracle</a:t>
            </a:r>
            <a:r>
              <a:rPr lang="lt-LT" dirty="0" smtClean="0"/>
              <a:t>)</a:t>
            </a:r>
          </a:p>
          <a:p>
            <a:r>
              <a:rPr lang="lt-LT" dirty="0" smtClean="0"/>
              <a:t>Nuo pradžios</a:t>
            </a:r>
            <a:r>
              <a:rPr lang="lt-LT" baseline="0" dirty="0" smtClean="0"/>
              <a:t> Bentley, C++, CAD, VKTI ...</a:t>
            </a:r>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3</a:t>
            </a:fld>
            <a:endParaRPr lang="lt-LT"/>
          </a:p>
        </p:txBody>
      </p:sp>
    </p:spTree>
    <p:extLst>
      <p:ext uri="{BB962C8B-B14F-4D97-AF65-F5344CB8AC3E}">
        <p14:creationId xmlns:p14="http://schemas.microsoft.com/office/powerpoint/2010/main" val="1582513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4</a:t>
            </a:fld>
            <a:endParaRPr lang="lt-LT"/>
          </a:p>
        </p:txBody>
      </p:sp>
    </p:spTree>
    <p:extLst>
      <p:ext uri="{BB962C8B-B14F-4D97-AF65-F5344CB8AC3E}">
        <p14:creationId xmlns:p14="http://schemas.microsoft.com/office/powerpoint/2010/main" val="2275360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lt-LT" dirty="0" smtClean="0"/>
              <a:t>Žinių medis, kamienas fundamentalūs</a:t>
            </a:r>
            <a:r>
              <a:rPr lang="lt-LT" baseline="0" dirty="0" smtClean="0"/>
              <a:t> dalykai, šakelės detalės</a:t>
            </a:r>
            <a:r>
              <a:rPr lang="lt-LT" dirty="0" smtClean="0"/>
              <a:t> </a:t>
            </a:r>
            <a:r>
              <a:rPr lang="lt-LT" dirty="0" smtClean="0">
                <a:sym typeface="Wingdings" panose="05000000000000000000" pitchFamily="2" charset="2"/>
              </a:rPr>
              <a:t></a:t>
            </a:r>
          </a:p>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5</a:t>
            </a:fld>
            <a:endParaRPr lang="lt-LT"/>
          </a:p>
        </p:txBody>
      </p:sp>
    </p:spTree>
    <p:extLst>
      <p:ext uri="{BB962C8B-B14F-4D97-AF65-F5344CB8AC3E}">
        <p14:creationId xmlns:p14="http://schemas.microsoft.com/office/powerpoint/2010/main" val="2660859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6</a:t>
            </a:fld>
            <a:endParaRPr lang="lt-LT"/>
          </a:p>
        </p:txBody>
      </p:sp>
    </p:spTree>
    <p:extLst>
      <p:ext uri="{BB962C8B-B14F-4D97-AF65-F5344CB8AC3E}">
        <p14:creationId xmlns:p14="http://schemas.microsoft.com/office/powerpoint/2010/main" val="3544666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7</a:t>
            </a:fld>
            <a:endParaRPr lang="lt-LT"/>
          </a:p>
        </p:txBody>
      </p:sp>
    </p:spTree>
    <p:extLst>
      <p:ext uri="{BB962C8B-B14F-4D97-AF65-F5344CB8AC3E}">
        <p14:creationId xmlns:p14="http://schemas.microsoft.com/office/powerpoint/2010/main" val="1235538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.NET Core is a </a:t>
            </a:r>
            <a:r>
              <a:rPr lang="en-US" dirty="0" smtClean="0">
                <a:hlinkClick r:id="rId3" tooltip="Free and open-source"/>
              </a:rPr>
              <a:t>free and open-source</a:t>
            </a:r>
            <a:r>
              <a:rPr lang="en-US" dirty="0" smtClean="0"/>
              <a:t> managed software framework for Windows, </a:t>
            </a:r>
            <a:r>
              <a:rPr lang="en-US" dirty="0" err="1" smtClean="0"/>
              <a:t>macOS</a:t>
            </a:r>
            <a:r>
              <a:rPr lang="en-US" dirty="0" smtClean="0"/>
              <a:t> and Linux.</a:t>
            </a:r>
            <a:r>
              <a:rPr lang="en-US" baseline="30000" dirty="0" smtClean="0"/>
              <a:t> </a:t>
            </a:r>
            <a:r>
              <a:rPr lang="en-US" dirty="0" smtClean="0"/>
              <a:t>It consists of </a:t>
            </a:r>
            <a:r>
              <a:rPr lang="en-US" dirty="0" err="1" smtClean="0"/>
              <a:t>CoreCLR</a:t>
            </a:r>
            <a:r>
              <a:rPr lang="en-US" dirty="0" smtClean="0"/>
              <a:t>, a complete runtime implementation of </a:t>
            </a:r>
            <a:r>
              <a:rPr lang="en-US" dirty="0" smtClean="0">
                <a:hlinkClick r:id="rId4" tooltip="Common Language Runtime"/>
              </a:rPr>
              <a:t>CLR</a:t>
            </a:r>
            <a:r>
              <a:rPr lang="en-US" dirty="0" smtClean="0"/>
              <a:t>, the virtual machine that manages the execution of .NET programs. </a:t>
            </a:r>
            <a:r>
              <a:rPr lang="en-US" dirty="0" err="1" smtClean="0"/>
              <a:t>CoreCLR</a:t>
            </a:r>
            <a:r>
              <a:rPr lang="en-US" dirty="0" smtClean="0"/>
              <a:t> comes with an improved </a:t>
            </a:r>
            <a:r>
              <a:rPr lang="en-US" dirty="0" smtClean="0">
                <a:hlinkClick r:id="rId5" tooltip="Just-in-time compiler"/>
              </a:rPr>
              <a:t>just-in-time compiler</a:t>
            </a:r>
            <a:r>
              <a:rPr lang="en-US" dirty="0" smtClean="0"/>
              <a:t>, called </a:t>
            </a:r>
            <a:r>
              <a:rPr lang="en-US" dirty="0" err="1" smtClean="0"/>
              <a:t>RyuJIT</a:t>
            </a:r>
            <a:r>
              <a:rPr lang="en-US" dirty="0" smtClean="0"/>
              <a:t>.</a:t>
            </a:r>
            <a:endParaRPr lang="lt-LT" dirty="0" smtClean="0"/>
          </a:p>
          <a:p>
            <a:r>
              <a:rPr lang="en-US" dirty="0" smtClean="0"/>
              <a:t>While .NET Core shares a subset of .NET Framework APIs, it comes with its own API that is not part of .NET Framework.</a:t>
            </a:r>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8</a:t>
            </a:fld>
            <a:endParaRPr lang="lt-LT"/>
          </a:p>
        </p:txBody>
      </p:sp>
    </p:spTree>
    <p:extLst>
      <p:ext uri="{BB962C8B-B14F-4D97-AF65-F5344CB8AC3E}">
        <p14:creationId xmlns:p14="http://schemas.microsoft.com/office/powerpoint/2010/main" val="3378640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9</a:t>
            </a:fld>
            <a:endParaRPr lang="lt-LT"/>
          </a:p>
        </p:txBody>
      </p:sp>
    </p:spTree>
    <p:extLst>
      <p:ext uri="{BB962C8B-B14F-4D97-AF65-F5344CB8AC3E}">
        <p14:creationId xmlns:p14="http://schemas.microsoft.com/office/powerpoint/2010/main" val="598092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11</a:t>
            </a:fld>
            <a:endParaRPr lang="lt-LT"/>
          </a:p>
        </p:txBody>
      </p:sp>
    </p:spTree>
    <p:extLst>
      <p:ext uri="{BB962C8B-B14F-4D97-AF65-F5344CB8AC3E}">
        <p14:creationId xmlns:p14="http://schemas.microsoft.com/office/powerpoint/2010/main" val="3038684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12</a:t>
            </a:fld>
            <a:endParaRPr lang="lt-LT"/>
          </a:p>
        </p:txBody>
      </p:sp>
    </p:spTree>
    <p:extLst>
      <p:ext uri="{BB962C8B-B14F-4D97-AF65-F5344CB8AC3E}">
        <p14:creationId xmlns:p14="http://schemas.microsoft.com/office/powerpoint/2010/main" val="33387726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09600" indent="-609600">
              <a:lnSpc>
                <a:spcPct val="90000"/>
              </a:lnSpc>
            </a:pPr>
            <a:endParaRPr lang="lt-LT" dirty="0" smtClean="0"/>
          </a:p>
        </p:txBody>
      </p:sp>
      <p:sp>
        <p:nvSpPr>
          <p:cNvPr id="4" name="Slide Number Placeholder 3"/>
          <p:cNvSpPr>
            <a:spLocks noGrp="1"/>
          </p:cNvSpPr>
          <p:nvPr>
            <p:ph type="sldNum" sz="quarter" idx="10"/>
          </p:nvPr>
        </p:nvSpPr>
        <p:spPr/>
        <p:txBody>
          <a:bodyPr/>
          <a:lstStyle/>
          <a:p>
            <a:fld id="{417CB601-C568-4016-9959-7728439A5581}" type="slidenum">
              <a:rPr lang="lt-LT" smtClean="0"/>
              <a:t>13</a:t>
            </a:fld>
            <a:endParaRPr lang="lt-LT"/>
          </a:p>
        </p:txBody>
      </p:sp>
    </p:spTree>
    <p:extLst>
      <p:ext uri="{BB962C8B-B14F-4D97-AF65-F5344CB8AC3E}">
        <p14:creationId xmlns:p14="http://schemas.microsoft.com/office/powerpoint/2010/main" val="638470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14</a:t>
            </a:fld>
            <a:endParaRPr lang="lt-LT"/>
          </a:p>
        </p:txBody>
      </p:sp>
    </p:spTree>
    <p:extLst>
      <p:ext uri="{BB962C8B-B14F-4D97-AF65-F5344CB8AC3E}">
        <p14:creationId xmlns:p14="http://schemas.microsoft.com/office/powerpoint/2010/main" val="4202298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1200" dirty="0" smtClean="0"/>
              <a:t>KEY MESSAGE: </a:t>
            </a:r>
          </a:p>
          <a:p>
            <a:r>
              <a:rPr lang="en-GB" altLang="en-US" sz="1200" dirty="0" smtClean="0"/>
              <a:t>The .NET Framework is a complete set of technologies that makes it easy to create the next generation of applications. And VS.NET is the set of tools that takes advantage of this infrastructure.</a:t>
            </a:r>
          </a:p>
          <a:p>
            <a:endParaRPr lang="en-GB" altLang="en-US" sz="1200" dirty="0" smtClean="0"/>
          </a:p>
          <a:p>
            <a:r>
              <a:rPr lang="en-GB" altLang="en-US" sz="1200" dirty="0" smtClean="0"/>
              <a:t>SLIDE SCRIPT:</a:t>
            </a:r>
          </a:p>
          <a:p>
            <a:r>
              <a:rPr lang="en-GB" altLang="en-US" sz="1200" dirty="0" smtClean="0"/>
              <a:t>The .NET framework exposes numerous classes to the developer.   These classes allow the development of rich client applications and Web based applications alike.  In the above slide these classes have been divided into 4 areas.</a:t>
            </a:r>
          </a:p>
          <a:p>
            <a:r>
              <a:rPr lang="en-GB" altLang="en-US" sz="1200" dirty="0" smtClean="0"/>
              <a:t>ASP.NET provides the core Web infrastructure such as Web Forms for UI based development and Web Services for programmatic interface development, </a:t>
            </a:r>
          </a:p>
          <a:p>
            <a:r>
              <a:rPr lang="en-GB" altLang="en-US" sz="1200" dirty="0" smtClean="0"/>
              <a:t>User interface development on the Windows platform can be done using Windows Forms</a:t>
            </a:r>
          </a:p>
          <a:p>
            <a:r>
              <a:rPr lang="en-GB" altLang="en-US" sz="1200" dirty="0" smtClean="0"/>
              <a:t>ADO.NET and XML provide the functionality for  data access.</a:t>
            </a:r>
          </a:p>
          <a:p>
            <a:r>
              <a:rPr lang="en-GB" altLang="en-US" sz="1200" dirty="0" smtClean="0"/>
              <a:t>Finally, the core base classes provide infrastructure services such as security, transaction management etc.</a:t>
            </a:r>
          </a:p>
          <a:p>
            <a:endParaRPr lang="lt-LT" dirty="0" smtClean="0"/>
          </a:p>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15</a:t>
            </a:fld>
            <a:endParaRPr lang="lt-LT"/>
          </a:p>
        </p:txBody>
      </p:sp>
    </p:spTree>
    <p:extLst>
      <p:ext uri="{BB962C8B-B14F-4D97-AF65-F5344CB8AC3E}">
        <p14:creationId xmlns:p14="http://schemas.microsoft.com/office/powerpoint/2010/main" val="3635165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16</a:t>
            </a:fld>
            <a:endParaRPr lang="lt-LT"/>
          </a:p>
        </p:txBody>
      </p:sp>
    </p:spTree>
    <p:extLst>
      <p:ext uri="{BB962C8B-B14F-4D97-AF65-F5344CB8AC3E}">
        <p14:creationId xmlns:p14="http://schemas.microsoft.com/office/powerpoint/2010/main" val="2507520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effectLst/>
              </a:rPr>
              <a:t>N tier architecture means splitting up the system into N tiers, where N is a number from 1 and up. </a:t>
            </a:r>
            <a:endParaRPr lang="lt-LT" dirty="0" smtClean="0">
              <a:effectLst/>
            </a:endParaRPr>
          </a:p>
          <a:p>
            <a:r>
              <a:rPr lang="en-US" dirty="0" smtClean="0">
                <a:effectLst/>
              </a:rPr>
              <a:t>A 1 tier architecture is the same as a single process architecture. </a:t>
            </a:r>
            <a:endParaRPr lang="lt-LT" dirty="0" smtClean="0">
              <a:effectLst/>
            </a:endParaRPr>
          </a:p>
          <a:p>
            <a:r>
              <a:rPr lang="en-US" dirty="0" smtClean="0">
                <a:effectLst/>
              </a:rPr>
              <a:t>A 2 tier architecture is the same as a client / server architecture etc. </a:t>
            </a:r>
          </a:p>
          <a:p>
            <a:r>
              <a:rPr lang="en-US" dirty="0" smtClean="0">
                <a:effectLst/>
              </a:rPr>
              <a:t>A 3 tier architecture is a very common architecture. A 3 tier architecture is typically split into a presentation or GUI tier, an application logic tier, and a data tier. </a:t>
            </a:r>
          </a:p>
          <a:p>
            <a:endParaRPr lang="lt-LT" dirty="0" smtClean="0"/>
          </a:p>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17</a:t>
            </a:fld>
            <a:endParaRPr lang="lt-LT"/>
          </a:p>
        </p:txBody>
      </p:sp>
    </p:spTree>
    <p:extLst>
      <p:ext uri="{BB962C8B-B14F-4D97-AF65-F5344CB8AC3E}">
        <p14:creationId xmlns:p14="http://schemas.microsoft.com/office/powerpoint/2010/main" val="26381238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t-LT" dirty="0"/>
          </a:p>
        </p:txBody>
      </p:sp>
      <p:sp>
        <p:nvSpPr>
          <p:cNvPr id="4" name="Slide Number Placeholder 3"/>
          <p:cNvSpPr>
            <a:spLocks noGrp="1"/>
          </p:cNvSpPr>
          <p:nvPr>
            <p:ph type="sldNum" sz="quarter" idx="10"/>
          </p:nvPr>
        </p:nvSpPr>
        <p:spPr/>
        <p:txBody>
          <a:bodyPr/>
          <a:lstStyle/>
          <a:p>
            <a:fld id="{417CB601-C568-4016-9959-7728439A5581}" type="slidenum">
              <a:rPr lang="lt-LT" smtClean="0"/>
              <a:t>18</a:t>
            </a:fld>
            <a:endParaRPr lang="lt-LT"/>
          </a:p>
        </p:txBody>
      </p:sp>
    </p:spTree>
    <p:extLst>
      <p:ext uri="{BB962C8B-B14F-4D97-AF65-F5344CB8AC3E}">
        <p14:creationId xmlns:p14="http://schemas.microsoft.com/office/powerpoint/2010/main" val="36505193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20706" y="0"/>
            <a:ext cx="6571294" cy="6858000"/>
          </a:xfrm>
          <a:prstGeom prst="rect">
            <a:avLst/>
          </a:prstGeom>
        </p:spPr>
      </p:pic>
      <p:sp>
        <p:nvSpPr>
          <p:cNvPr id="2" name="Title 1"/>
          <p:cNvSpPr>
            <a:spLocks noGrp="1"/>
          </p:cNvSpPr>
          <p:nvPr>
            <p:ph type="ctrTitle" hasCustomPrompt="1"/>
          </p:nvPr>
        </p:nvSpPr>
        <p:spPr>
          <a:xfrm>
            <a:off x="1731818" y="2503487"/>
            <a:ext cx="4336473" cy="1006475"/>
          </a:xfrm>
        </p:spPr>
        <p:txBody>
          <a:bodyPr anchor="b"/>
          <a:lstStyle>
            <a:lvl1pPr algn="l">
              <a:defRPr sz="4000" b="1" spc="300">
                <a:solidFill>
                  <a:schemeClr val="accent5">
                    <a:lumMod val="50000"/>
                  </a:schemeClr>
                </a:solidFill>
              </a:defRPr>
            </a:lvl1pPr>
          </a:lstStyle>
          <a:p>
            <a:r>
              <a:rPr lang="en-GB" dirty="0" smtClean="0"/>
              <a:t>Title</a:t>
            </a:r>
            <a:endParaRPr lang="en-US" dirty="0"/>
          </a:p>
        </p:txBody>
      </p:sp>
      <p:sp>
        <p:nvSpPr>
          <p:cNvPr id="3" name="Subtitle 2"/>
          <p:cNvSpPr>
            <a:spLocks noGrp="1"/>
          </p:cNvSpPr>
          <p:nvPr>
            <p:ph type="subTitle" idx="1" hasCustomPrompt="1"/>
          </p:nvPr>
        </p:nvSpPr>
        <p:spPr>
          <a:xfrm>
            <a:off x="1731818" y="4045526"/>
            <a:ext cx="3532909" cy="1967923"/>
          </a:xfrm>
        </p:spPr>
        <p:txBody>
          <a:bodyPr/>
          <a:lstStyle>
            <a:lvl1pPr marL="0" indent="0" algn="l">
              <a:buNone/>
              <a:defRPr sz="2400">
                <a:solidFill>
                  <a:schemeClr val="accent5">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smtClean="0"/>
              <a:t>Presenter1</a:t>
            </a:r>
          </a:p>
          <a:p>
            <a:r>
              <a:rPr lang="en-US" dirty="0" smtClean="0"/>
              <a:t>Presenter2</a:t>
            </a:r>
            <a:endParaRPr lang="en-GB" dirty="0" smtClean="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1686" y="1555679"/>
            <a:ext cx="5209152" cy="947808"/>
          </a:xfrm>
          <a:prstGeom prst="rect">
            <a:avLst/>
          </a:prstGeom>
        </p:spPr>
      </p:pic>
    </p:spTree>
    <p:extLst>
      <p:ext uri="{BB962C8B-B14F-4D97-AF65-F5344CB8AC3E}">
        <p14:creationId xmlns:p14="http://schemas.microsoft.com/office/powerpoint/2010/main" val="197748014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83514" y="365125"/>
            <a:ext cx="1570286" cy="1217585"/>
          </a:xfrm>
          <a:prstGeom prst="rect">
            <a:avLst/>
          </a:prstGeom>
        </p:spPr>
      </p:pic>
    </p:spTree>
    <p:extLst>
      <p:ext uri="{BB962C8B-B14F-4D97-AF65-F5344CB8AC3E}">
        <p14:creationId xmlns:p14="http://schemas.microsoft.com/office/powerpoint/2010/main" val="178281957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20223642">
            <a:off x="9925131" y="396956"/>
            <a:ext cx="1236582" cy="1236582"/>
          </a:xfrm>
          <a:prstGeom prst="rect">
            <a:avLst/>
          </a:prstGeom>
        </p:spPr>
      </p:pic>
    </p:spTree>
    <p:extLst>
      <p:ext uri="{BB962C8B-B14F-4D97-AF65-F5344CB8AC3E}">
        <p14:creationId xmlns:p14="http://schemas.microsoft.com/office/powerpoint/2010/main" val="20401871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69785" y="196551"/>
            <a:ext cx="1435903" cy="1561605"/>
          </a:xfrm>
          <a:prstGeom prst="rect">
            <a:avLst/>
          </a:prstGeom>
        </p:spPr>
      </p:pic>
    </p:spTree>
    <p:extLst>
      <p:ext uri="{BB962C8B-B14F-4D97-AF65-F5344CB8AC3E}">
        <p14:creationId xmlns:p14="http://schemas.microsoft.com/office/powerpoint/2010/main" val="90904936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60994" y="365124"/>
            <a:ext cx="1325563" cy="1325563"/>
          </a:xfrm>
          <a:prstGeom prst="rect">
            <a:avLst/>
          </a:prstGeom>
        </p:spPr>
      </p:pic>
    </p:spTree>
    <p:extLst>
      <p:ext uri="{BB962C8B-B14F-4D97-AF65-F5344CB8AC3E}">
        <p14:creationId xmlns:p14="http://schemas.microsoft.com/office/powerpoint/2010/main" val="173136017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93657" y="245269"/>
            <a:ext cx="1648812" cy="1512888"/>
          </a:xfrm>
          <a:prstGeom prst="rect">
            <a:avLst/>
          </a:prstGeom>
        </p:spPr>
      </p:pic>
    </p:spTree>
    <p:extLst>
      <p:ext uri="{BB962C8B-B14F-4D97-AF65-F5344CB8AC3E}">
        <p14:creationId xmlns:p14="http://schemas.microsoft.com/office/powerpoint/2010/main" val="161803439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8305" y="270762"/>
            <a:ext cx="1289258" cy="1419926"/>
          </a:xfrm>
          <a:prstGeom prst="rect">
            <a:avLst/>
          </a:prstGeom>
        </p:spPr>
      </p:pic>
    </p:spTree>
    <p:extLst>
      <p:ext uri="{BB962C8B-B14F-4D97-AF65-F5344CB8AC3E}">
        <p14:creationId xmlns:p14="http://schemas.microsoft.com/office/powerpoint/2010/main" val="13759544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65242" y="233652"/>
            <a:ext cx="1488558" cy="1457036"/>
          </a:xfrm>
          <a:prstGeom prst="rect">
            <a:avLst/>
          </a:prstGeom>
        </p:spPr>
      </p:pic>
    </p:spTree>
    <p:extLst>
      <p:ext uri="{BB962C8B-B14F-4D97-AF65-F5344CB8AC3E}">
        <p14:creationId xmlns:p14="http://schemas.microsoft.com/office/powerpoint/2010/main" val="172358365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19310" y="450933"/>
            <a:ext cx="1136238" cy="1116610"/>
          </a:xfrm>
          <a:prstGeom prst="rect">
            <a:avLst/>
          </a:prstGeom>
        </p:spPr>
      </p:pic>
    </p:spTree>
    <p:extLst>
      <p:ext uri="{BB962C8B-B14F-4D97-AF65-F5344CB8AC3E}">
        <p14:creationId xmlns:p14="http://schemas.microsoft.com/office/powerpoint/2010/main" val="79650277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95016" y="469900"/>
            <a:ext cx="1085768" cy="1085768"/>
          </a:xfrm>
          <a:prstGeom prst="rect">
            <a:avLst/>
          </a:prstGeom>
        </p:spPr>
      </p:pic>
    </p:spTree>
    <p:extLst>
      <p:ext uri="{BB962C8B-B14F-4D97-AF65-F5344CB8AC3E}">
        <p14:creationId xmlns:p14="http://schemas.microsoft.com/office/powerpoint/2010/main" val="196246328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39317" y="276205"/>
            <a:ext cx="1414483" cy="1414483"/>
          </a:xfrm>
          <a:prstGeom prst="rect">
            <a:avLst/>
          </a:prstGeom>
        </p:spPr>
      </p:pic>
    </p:spTree>
    <p:extLst>
      <p:ext uri="{BB962C8B-B14F-4D97-AF65-F5344CB8AC3E}">
        <p14:creationId xmlns:p14="http://schemas.microsoft.com/office/powerpoint/2010/main" val="102537173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55283" y="470481"/>
            <a:ext cx="860261" cy="1114849"/>
          </a:xfrm>
          <a:prstGeom prst="rect">
            <a:avLst/>
          </a:prstGeom>
        </p:spPr>
      </p:pic>
    </p:spTree>
    <p:extLst>
      <p:ext uri="{BB962C8B-B14F-4D97-AF65-F5344CB8AC3E}">
        <p14:creationId xmlns:p14="http://schemas.microsoft.com/office/powerpoint/2010/main" val="148976428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73557" y="267639"/>
            <a:ext cx="1490518" cy="1490518"/>
          </a:xfrm>
          <a:prstGeom prst="rect">
            <a:avLst/>
          </a:prstGeom>
        </p:spPr>
      </p:pic>
    </p:spTree>
    <p:extLst>
      <p:ext uri="{BB962C8B-B14F-4D97-AF65-F5344CB8AC3E}">
        <p14:creationId xmlns:p14="http://schemas.microsoft.com/office/powerpoint/2010/main" val="182556103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3" name="Content Placeholder 2"/>
          <p:cNvSpPr>
            <a:spLocks noGrp="1"/>
          </p:cNvSpPr>
          <p:nvPr>
            <p:ph idx="1"/>
          </p:nvPr>
        </p:nvSpPr>
        <p:spPr/>
        <p:txBody>
          <a:bodyPr/>
          <a:lstStyle>
            <a:lvl1pPr>
              <a:defRPr>
                <a:solidFill>
                  <a:schemeClr val="accent5">
                    <a:lumMod val="50000"/>
                  </a:schemeClr>
                </a:solidFill>
              </a:defRPr>
            </a:lvl1pPr>
            <a:lvl2pPr>
              <a:defRPr>
                <a:solidFill>
                  <a:schemeClr val="accent5">
                    <a:lumMod val="50000"/>
                  </a:schemeClr>
                </a:solidFill>
              </a:defRPr>
            </a:lvl2pPr>
            <a:lvl3pPr>
              <a:defRPr>
                <a:solidFill>
                  <a:schemeClr val="accent5">
                    <a:lumMod val="50000"/>
                  </a:schemeClr>
                </a:solidFill>
              </a:defRPr>
            </a:lvl3pPr>
            <a:lvl4pPr>
              <a:defRPr>
                <a:solidFill>
                  <a:schemeClr val="accent5">
                    <a:lumMod val="50000"/>
                  </a:schemeClr>
                </a:solidFill>
              </a:defRPr>
            </a:lvl4pPr>
            <a:lvl5pPr>
              <a:defRPr>
                <a:solidFill>
                  <a:schemeClr val="accent5">
                    <a:lumMod val="50000"/>
                  </a:schemeClr>
                </a:solidFill>
              </a:defRPr>
            </a:lvl5p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719378" y="236620"/>
            <a:ext cx="1462393" cy="1454068"/>
          </a:xfrm>
          <a:prstGeom prst="rect">
            <a:avLst/>
          </a:prstGeom>
        </p:spPr>
      </p:pic>
    </p:spTree>
    <p:extLst>
      <p:ext uri="{BB962C8B-B14F-4D97-AF65-F5344CB8AC3E}">
        <p14:creationId xmlns:p14="http://schemas.microsoft.com/office/powerpoint/2010/main" val="1153324607"/>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graphicFrame>
        <p:nvGraphicFramePr>
          <p:cNvPr id="6" name="Table 5"/>
          <p:cNvGraphicFramePr>
            <a:graphicFrameLocks noGrp="1"/>
          </p:cNvGraphicFramePr>
          <p:nvPr userDrawn="1">
            <p:extLst>
              <p:ext uri="{D42A27DB-BD31-4B8C-83A1-F6EECF244321}">
                <p14:modId xmlns:p14="http://schemas.microsoft.com/office/powerpoint/2010/main" val="842020354"/>
              </p:ext>
            </p:extLst>
          </p:nvPr>
        </p:nvGraphicFramePr>
        <p:xfrm>
          <a:off x="1473860" y="2429712"/>
          <a:ext cx="8128002" cy="2451045"/>
        </p:xfrm>
        <a:graphic>
          <a:graphicData uri="http://schemas.openxmlformats.org/drawingml/2006/table">
            <a:tbl>
              <a:tblPr firstRow="1" bandRow="1">
                <a:tableStyleId>{5C22544A-7EE6-4342-B048-85BDC9FD1C3A}</a:tableStyleId>
              </a:tblPr>
              <a:tblGrid>
                <a:gridCol w="1354667">
                  <a:extLst>
                    <a:ext uri="{9D8B030D-6E8A-4147-A177-3AD203B41FA5}">
                      <a16:colId xmlns="" xmlns:a16="http://schemas.microsoft.com/office/drawing/2014/main" val="20000"/>
                    </a:ext>
                  </a:extLst>
                </a:gridCol>
                <a:gridCol w="1354667">
                  <a:extLst>
                    <a:ext uri="{9D8B030D-6E8A-4147-A177-3AD203B41FA5}">
                      <a16:colId xmlns="" xmlns:a16="http://schemas.microsoft.com/office/drawing/2014/main" val="20001"/>
                    </a:ext>
                  </a:extLst>
                </a:gridCol>
                <a:gridCol w="1354667">
                  <a:extLst>
                    <a:ext uri="{9D8B030D-6E8A-4147-A177-3AD203B41FA5}">
                      <a16:colId xmlns="" xmlns:a16="http://schemas.microsoft.com/office/drawing/2014/main" val="20002"/>
                    </a:ext>
                  </a:extLst>
                </a:gridCol>
                <a:gridCol w="1354667">
                  <a:extLst>
                    <a:ext uri="{9D8B030D-6E8A-4147-A177-3AD203B41FA5}">
                      <a16:colId xmlns="" xmlns:a16="http://schemas.microsoft.com/office/drawing/2014/main" val="20003"/>
                    </a:ext>
                  </a:extLst>
                </a:gridCol>
                <a:gridCol w="1354667">
                  <a:extLst>
                    <a:ext uri="{9D8B030D-6E8A-4147-A177-3AD203B41FA5}">
                      <a16:colId xmlns="" xmlns:a16="http://schemas.microsoft.com/office/drawing/2014/main" val="20004"/>
                    </a:ext>
                  </a:extLst>
                </a:gridCol>
                <a:gridCol w="1354667">
                  <a:extLst>
                    <a:ext uri="{9D8B030D-6E8A-4147-A177-3AD203B41FA5}">
                      <a16:colId xmlns="" xmlns:a16="http://schemas.microsoft.com/office/drawing/2014/main" val="20005"/>
                    </a:ext>
                  </a:extLst>
                </a:gridCol>
              </a:tblGrid>
              <a:tr h="490209">
                <a:tc>
                  <a:txBody>
                    <a:bodyPr/>
                    <a:lstStyle/>
                    <a:p>
                      <a:r>
                        <a:rPr lang="en-US" dirty="0" smtClean="0"/>
                        <a:t>Text</a:t>
                      </a:r>
                      <a:endParaRPr lang="en-US" dirty="0"/>
                    </a:p>
                  </a:txBody>
                  <a:tcPr>
                    <a:solidFill>
                      <a:schemeClr val="accent5">
                        <a:lumMod val="50000"/>
                      </a:schemeClr>
                    </a:solidFill>
                  </a:tcPr>
                </a:tc>
                <a:tc>
                  <a:txBody>
                    <a:bodyPr/>
                    <a:lstStyle/>
                    <a:p>
                      <a:endParaRPr lang="en-US"/>
                    </a:p>
                  </a:txBody>
                  <a:tcPr>
                    <a:solidFill>
                      <a:schemeClr val="accent5">
                        <a:lumMod val="50000"/>
                      </a:schemeClr>
                    </a:solidFill>
                  </a:tcPr>
                </a:tc>
                <a:tc>
                  <a:txBody>
                    <a:bodyPr/>
                    <a:lstStyle/>
                    <a:p>
                      <a:endParaRPr lang="en-US"/>
                    </a:p>
                  </a:txBody>
                  <a:tcPr>
                    <a:solidFill>
                      <a:schemeClr val="accent5">
                        <a:lumMod val="50000"/>
                      </a:schemeClr>
                    </a:solidFill>
                  </a:tcPr>
                </a:tc>
                <a:tc>
                  <a:txBody>
                    <a:bodyPr/>
                    <a:lstStyle/>
                    <a:p>
                      <a:endParaRPr lang="en-US"/>
                    </a:p>
                  </a:txBody>
                  <a:tcPr>
                    <a:solidFill>
                      <a:schemeClr val="accent5">
                        <a:lumMod val="50000"/>
                      </a:schemeClr>
                    </a:solidFill>
                  </a:tcPr>
                </a:tc>
                <a:tc>
                  <a:txBody>
                    <a:bodyPr/>
                    <a:lstStyle/>
                    <a:p>
                      <a:endParaRPr lang="en-US"/>
                    </a:p>
                  </a:txBody>
                  <a:tcPr>
                    <a:solidFill>
                      <a:schemeClr val="accent5">
                        <a:lumMod val="50000"/>
                      </a:schemeClr>
                    </a:solidFill>
                  </a:tcPr>
                </a:tc>
                <a:tc>
                  <a:txBody>
                    <a:bodyPr/>
                    <a:lstStyle/>
                    <a:p>
                      <a:endParaRPr lang="en-US" dirty="0"/>
                    </a:p>
                  </a:txBody>
                  <a:tcPr>
                    <a:solidFill>
                      <a:schemeClr val="accent5">
                        <a:lumMod val="50000"/>
                      </a:schemeClr>
                    </a:solidFill>
                  </a:tcPr>
                </a:tc>
                <a:extLst>
                  <a:ext uri="{0D108BD9-81ED-4DB2-BD59-A6C34878D82A}">
                    <a16:rowId xmlns="" xmlns:a16="http://schemas.microsoft.com/office/drawing/2014/main" val="10000"/>
                  </a:ext>
                </a:extLst>
              </a:tr>
              <a:tr h="490209">
                <a:tc>
                  <a:txBody>
                    <a:bodyPr/>
                    <a:lstStyle/>
                    <a:p>
                      <a:r>
                        <a:rPr lang="en-US" dirty="0" smtClean="0"/>
                        <a:t>text</a:t>
                      </a:r>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 xmlns:a16="http://schemas.microsoft.com/office/drawing/2014/main" val="10001"/>
                  </a:ext>
                </a:extLst>
              </a:tr>
              <a:tr h="4902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 xmlns:a16="http://schemas.microsoft.com/office/drawing/2014/main" val="10002"/>
                  </a:ext>
                </a:extLst>
              </a:tr>
              <a:tr h="4902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 xmlns:a16="http://schemas.microsoft.com/office/drawing/2014/main" val="10003"/>
                  </a:ext>
                </a:extLst>
              </a:tr>
              <a:tr h="490209">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12146276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1325563"/>
          </a:xfrm>
        </p:spPr>
        <p:txBody>
          <a:bodyPr>
            <a:normAutofit/>
          </a:bodyPr>
          <a:lstStyle>
            <a:lvl1pPr>
              <a:defRPr sz="4000">
                <a:solidFill>
                  <a:schemeClr val="bg1">
                    <a:lumMod val="50000"/>
                  </a:schemeClr>
                </a:solidFill>
              </a:defRPr>
            </a:lvl1pPr>
          </a:lstStyle>
          <a:p>
            <a:r>
              <a:rPr lang="en-GB" dirty="0" smtClean="0"/>
              <a:t>Click to edit Master title style</a:t>
            </a:r>
            <a:endParaRPr lang="en-US" dirty="0"/>
          </a:p>
        </p:txBody>
      </p:sp>
      <p:sp>
        <p:nvSpPr>
          <p:cNvPr id="5" name="Rounded Rectangle 4"/>
          <p:cNvSpPr/>
          <p:nvPr userDrawn="1"/>
        </p:nvSpPr>
        <p:spPr>
          <a:xfrm>
            <a:off x="1021278" y="2280062"/>
            <a:ext cx="2671948" cy="1615044"/>
          </a:xfrm>
          <a:prstGeom prst="roundRect">
            <a:avLst/>
          </a:prstGeom>
          <a:no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userDrawn="1"/>
        </p:nvSpPr>
        <p:spPr>
          <a:xfrm>
            <a:off x="6978733" y="2280062"/>
            <a:ext cx="1900052" cy="1900052"/>
          </a:xfrm>
          <a:prstGeom prst="ellipse">
            <a:avLst/>
          </a:prstGeom>
          <a:noFill/>
          <a:ln w="76200">
            <a:solidFill>
              <a:schemeClr val="accent1">
                <a:lumMod val="60000"/>
                <a:lumOff val="4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userDrawn="1"/>
        </p:nvSpPr>
        <p:spPr>
          <a:xfrm>
            <a:off x="9440884" y="2945080"/>
            <a:ext cx="1900052" cy="1900052"/>
          </a:xfrm>
          <a:prstGeom prst="ellipse">
            <a:avLst/>
          </a:prstGeom>
          <a:no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userDrawn="1"/>
        </p:nvSpPr>
        <p:spPr>
          <a:xfrm>
            <a:off x="3336966" y="4180114"/>
            <a:ext cx="2375065" cy="1615044"/>
          </a:xfrm>
          <a:prstGeom prst="roundRect">
            <a:avLst/>
          </a:prstGeom>
          <a:noFill/>
          <a:ln w="76200">
            <a:solidFill>
              <a:schemeClr val="accent1">
                <a:lumMod val="60000"/>
                <a:lumOff val="40000"/>
              </a:schemeClr>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852761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smtClean="0"/>
              <a:t>Click to edit Master text styles</a:t>
            </a:r>
          </a:p>
        </p:txBody>
      </p:sp>
    </p:spTree>
    <p:extLst>
      <p:ext uri="{BB962C8B-B14F-4D97-AF65-F5344CB8AC3E}">
        <p14:creationId xmlns:p14="http://schemas.microsoft.com/office/powerpoint/2010/main" val="923682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62441115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187319965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516091" cy="1325563"/>
          </a:xfrm>
        </p:spPr>
        <p:txBody>
          <a:bodyPr/>
          <a:lstStyle/>
          <a:p>
            <a:r>
              <a:rPr lang="en-GB" smtClean="0"/>
              <a:t>Click to edit Master title style</a:t>
            </a:r>
            <a:endParaRPr lang="en-US"/>
          </a:p>
        </p:txBody>
      </p:sp>
    </p:spTree>
    <p:extLst>
      <p:ext uri="{BB962C8B-B14F-4D97-AF65-F5344CB8AC3E}">
        <p14:creationId xmlns:p14="http://schemas.microsoft.com/office/powerpoint/2010/main" val="756252530"/>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048764"/>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smtClean="0"/>
              <a:t>Click to edit Master text styles</a:t>
            </a:r>
          </a:p>
        </p:txBody>
      </p:sp>
    </p:spTree>
    <p:extLst>
      <p:ext uri="{BB962C8B-B14F-4D97-AF65-F5344CB8AC3E}">
        <p14:creationId xmlns:p14="http://schemas.microsoft.com/office/powerpoint/2010/main" val="15864207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smtClean="0"/>
              <a:t>Click to edit Master text styles</a:t>
            </a:r>
          </a:p>
        </p:txBody>
      </p:sp>
    </p:spTree>
    <p:extLst>
      <p:ext uri="{BB962C8B-B14F-4D97-AF65-F5344CB8AC3E}">
        <p14:creationId xmlns:p14="http://schemas.microsoft.com/office/powerpoint/2010/main" val="1270148598"/>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spTree>
    <p:extLst>
      <p:ext uri="{BB962C8B-B14F-4D97-AF65-F5344CB8AC3E}">
        <p14:creationId xmlns:p14="http://schemas.microsoft.com/office/powerpoint/2010/main" val="140003540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Tree>
    <p:extLst>
      <p:ext uri="{BB962C8B-B14F-4D97-AF65-F5344CB8AC3E}">
        <p14:creationId xmlns:p14="http://schemas.microsoft.com/office/powerpoint/2010/main" val="416748463"/>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20706" y="0"/>
            <a:ext cx="6571294" cy="6858000"/>
          </a:xfrm>
          <a:prstGeom prst="rect">
            <a:avLst/>
          </a:prstGeom>
        </p:spPr>
      </p:pic>
      <p:sp>
        <p:nvSpPr>
          <p:cNvPr id="3" name="Title 1"/>
          <p:cNvSpPr>
            <a:spLocks noGrp="1"/>
          </p:cNvSpPr>
          <p:nvPr>
            <p:ph type="title" idx="4294967295"/>
          </p:nvPr>
        </p:nvSpPr>
        <p:spPr>
          <a:xfrm>
            <a:off x="2414297" y="2453945"/>
            <a:ext cx="2951333" cy="1325563"/>
          </a:xfrm>
        </p:spPr>
        <p:txBody>
          <a:bodyPr/>
          <a:lstStyle>
            <a:lvl1pPr>
              <a:defRPr>
                <a:solidFill>
                  <a:schemeClr val="accent5">
                    <a:lumMod val="50000"/>
                  </a:schemeClr>
                </a:solidFill>
              </a:defRPr>
            </a:lvl1pPr>
          </a:lstStyle>
          <a:p>
            <a:r>
              <a:rPr lang="lt-LT" b="1" spc="600" dirty="0" smtClean="0">
                <a:latin typeface="Open Sans Light" panose="020B0604020202020204" charset="0"/>
                <a:ea typeface="Open Sans Light" panose="020B0604020202020204" charset="0"/>
                <a:cs typeface="Open Sans Light" panose="020B0604020202020204" charset="0"/>
              </a:rPr>
              <a:t>Ačiū</a:t>
            </a:r>
            <a:r>
              <a:rPr lang="en-US" b="1" spc="600" dirty="0" smtClean="0">
                <a:latin typeface="Open Sans Light" panose="020B0604020202020204" charset="0"/>
                <a:ea typeface="Open Sans Light" panose="020B0604020202020204" charset="0"/>
                <a:cs typeface="Open Sans Light" panose="020B0604020202020204" charset="0"/>
              </a:rPr>
              <a:t>!</a:t>
            </a:r>
            <a:endParaRPr lang="en-US" b="1" spc="600" dirty="0">
              <a:latin typeface="Open Sans Light" panose="020B0604020202020204" charset="0"/>
              <a:ea typeface="Open Sans Light" panose="020B0604020202020204" charset="0"/>
              <a:cs typeface="Open Sans Light" panose="020B0604020202020204" charset="0"/>
            </a:endParaRPr>
          </a:p>
        </p:txBody>
      </p:sp>
    </p:spTree>
    <p:extLst>
      <p:ext uri="{BB962C8B-B14F-4D97-AF65-F5344CB8AC3E}">
        <p14:creationId xmlns:p14="http://schemas.microsoft.com/office/powerpoint/2010/main" val="11913429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smtClean="0"/>
              <a:t>Click to edit Master text styles</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pic>
        <p:nvPicPr>
          <p:cNvPr id="9" name="Picture 8"/>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226178" y="6287250"/>
            <a:ext cx="1988877" cy="361877"/>
          </a:xfrm>
          <a:prstGeom prst="rect">
            <a:avLst/>
          </a:prstGeom>
        </p:spPr>
      </p:pic>
      <p:sp>
        <p:nvSpPr>
          <p:cNvPr id="10" name="Text Placeholder 4"/>
          <p:cNvSpPr txBox="1">
            <a:spLocks/>
          </p:cNvSpPr>
          <p:nvPr userDrawn="1"/>
        </p:nvSpPr>
        <p:spPr>
          <a:xfrm>
            <a:off x="10667402" y="6344310"/>
            <a:ext cx="1527267" cy="3016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lt-LT" sz="1400" smtClean="0">
                <a:solidFill>
                  <a:schemeClr val="accent5">
                    <a:lumMod val="75000"/>
                  </a:schemeClr>
                </a:solidFill>
              </a:rPr>
              <a:t>www.alna.lt</a:t>
            </a:r>
            <a:endParaRPr lang="en-US" sz="1400" dirty="0">
              <a:solidFill>
                <a:schemeClr val="accent5">
                  <a:lumMod val="75000"/>
                </a:schemeClr>
              </a:solidFill>
            </a:endParaRPr>
          </a:p>
        </p:txBody>
      </p:sp>
    </p:spTree>
    <p:extLst>
      <p:ext uri="{BB962C8B-B14F-4D97-AF65-F5344CB8AC3E}">
        <p14:creationId xmlns:p14="http://schemas.microsoft.com/office/powerpoint/2010/main" val="3210838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51" r:id="rId17"/>
    <p:sldLayoutId id="2147483652" r:id="rId18"/>
    <p:sldLayoutId id="2147483653" r:id="rId19"/>
    <p:sldLayoutId id="2147483654" r:id="rId20"/>
    <p:sldLayoutId id="2147483655" r:id="rId21"/>
    <p:sldLayoutId id="2147483656" r:id="rId22"/>
    <p:sldLayoutId id="2147483657" r:id="rId23"/>
    <p:sldLayoutId id="2147483658" r:id="rId24"/>
    <p:sldLayoutId id="2147483659" r:id="rId25"/>
    <p:sldLayoutId id="2147483661" r:id="rId2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bg1">
              <a:lumMod val="5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002060"/>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2060"/>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2060"/>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2060"/>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deklaravimas.vmi.l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www.meteo.lt/" TargetMode="External"/><Relationship Id="rId5" Type="http://schemas.openxmlformats.org/officeDocument/2006/relationships/hyperlink" Target="http://www.ldb.lt/" TargetMode="External"/><Relationship Id="rId4" Type="http://schemas.openxmlformats.org/officeDocument/2006/relationships/hyperlink" Target="http://www.rsc.l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www.pluralsight.co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www.stackoverflow.com/" TargetMode="External"/><Relationship Id="rId5" Type="http://schemas.openxmlformats.org/officeDocument/2006/relationships/hyperlink" Target="http://www.lynda.com/Visual-Studio-tutorials" TargetMode="External"/><Relationship Id="rId4" Type="http://schemas.openxmlformats.org/officeDocument/2006/relationships/hyperlink" Target="http://www.visualstudio.com/vs/getting-started"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jpe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themoviedb.org/documentation/api"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31818" y="2503487"/>
            <a:ext cx="4724738" cy="1006475"/>
          </a:xfrm>
        </p:spPr>
        <p:txBody>
          <a:bodyPr>
            <a:normAutofit/>
          </a:bodyPr>
          <a:lstStyle/>
          <a:p>
            <a:r>
              <a:rPr lang="lt-LT" dirty="0" smtClean="0"/>
              <a:t>Microsoft .NET</a:t>
            </a:r>
            <a:endParaRPr lang="lt-LT" dirty="0"/>
          </a:p>
        </p:txBody>
      </p:sp>
      <p:sp>
        <p:nvSpPr>
          <p:cNvPr id="3" name="Subtitle 2"/>
          <p:cNvSpPr>
            <a:spLocks noGrp="1"/>
          </p:cNvSpPr>
          <p:nvPr>
            <p:ph type="subTitle" idx="1"/>
          </p:nvPr>
        </p:nvSpPr>
        <p:spPr/>
        <p:txBody>
          <a:bodyPr/>
          <a:lstStyle/>
          <a:p>
            <a:r>
              <a:rPr lang="lt-LT" dirty="0" smtClean="0"/>
              <a:t>Robertas Rimas</a:t>
            </a:r>
          </a:p>
        </p:txBody>
      </p:sp>
    </p:spTree>
    <p:extLst>
      <p:ext uri="{BB962C8B-B14F-4D97-AF65-F5344CB8AC3E}">
        <p14:creationId xmlns:p14="http://schemas.microsoft.com/office/powerpoint/2010/main" val="757303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smtClean="0"/>
              <a:t>Apie ką kalbėsime</a:t>
            </a:r>
            <a:endParaRPr lang="lt-LT" dirty="0"/>
          </a:p>
        </p:txBody>
      </p:sp>
      <p:sp>
        <p:nvSpPr>
          <p:cNvPr id="3" name="Content Placeholder 2"/>
          <p:cNvSpPr>
            <a:spLocks noGrp="1"/>
          </p:cNvSpPr>
          <p:nvPr>
            <p:ph idx="1"/>
          </p:nvPr>
        </p:nvSpPr>
        <p:spPr/>
        <p:txBody>
          <a:bodyPr/>
          <a:lstStyle/>
          <a:p>
            <a:pPr marL="514350" indent="-514350">
              <a:buAutoNum type="arabicPeriod"/>
            </a:pPr>
            <a:r>
              <a:rPr lang="lt-LT" dirty="0" smtClean="0"/>
              <a:t>Projektai Alna Software naudojant Microsoft .NET</a:t>
            </a:r>
          </a:p>
          <a:p>
            <a:pPr marL="514350" indent="-514350">
              <a:buAutoNum type="arabicPeriod"/>
            </a:pPr>
            <a:r>
              <a:rPr lang="lt-LT" dirty="0" smtClean="0"/>
              <a:t>Kas tas programuotojas?</a:t>
            </a:r>
          </a:p>
          <a:p>
            <a:pPr marL="514350" indent="-514350">
              <a:buAutoNum type="arabicPeriod"/>
            </a:pPr>
            <a:r>
              <a:rPr lang="lt-LT" dirty="0" smtClean="0"/>
              <a:t>Kas yra Microsoft .NET (architektūra, galimybės, panaudojimas, gyvenimo ciklas)</a:t>
            </a:r>
          </a:p>
          <a:p>
            <a:pPr marL="514350" indent="-514350">
              <a:buAutoNum type="arabicPeriod"/>
            </a:pPr>
            <a:r>
              <a:rPr lang="lt-LT" dirty="0" smtClean="0"/>
              <a:t>Konkretus įvadas į C#</a:t>
            </a:r>
          </a:p>
          <a:p>
            <a:pPr marL="514350" indent="-514350">
              <a:buAutoNum type="arabicPeriod"/>
            </a:pPr>
            <a:endParaRPr lang="lt-LT" dirty="0" smtClean="0"/>
          </a:p>
          <a:p>
            <a:pPr marL="514350" indent="-514350">
              <a:buAutoNum type="arabicPeriod"/>
            </a:pPr>
            <a:endParaRPr lang="lt-LT" dirty="0"/>
          </a:p>
        </p:txBody>
      </p:sp>
    </p:spTree>
    <p:extLst>
      <p:ext uri="{BB962C8B-B14F-4D97-AF65-F5344CB8AC3E}">
        <p14:creationId xmlns:p14="http://schemas.microsoft.com/office/powerpoint/2010/main" val="584337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a:t>.NET projektai </a:t>
            </a:r>
            <a:r>
              <a:rPr lang="lt-LT" dirty="0" smtClean="0"/>
              <a:t>ASW (didieji)</a:t>
            </a:r>
            <a:endParaRPr lang="lt-LT" dirty="0"/>
          </a:p>
        </p:txBody>
      </p:sp>
      <p:sp>
        <p:nvSpPr>
          <p:cNvPr id="3" name="Content Placeholder 2"/>
          <p:cNvSpPr>
            <a:spLocks noGrp="1"/>
          </p:cNvSpPr>
          <p:nvPr>
            <p:ph idx="1"/>
          </p:nvPr>
        </p:nvSpPr>
        <p:spPr/>
        <p:txBody>
          <a:bodyPr/>
          <a:lstStyle/>
          <a:p>
            <a:r>
              <a:rPr lang="lt-LT" dirty="0"/>
              <a:t>Valstybinė mokesčių inspekcija (EDS, ESKIS</a:t>
            </a:r>
            <a:r>
              <a:rPr lang="lt-LT" dirty="0" smtClean="0"/>
              <a:t>) (</a:t>
            </a:r>
            <a:r>
              <a:rPr lang="lt-LT" sz="1800" dirty="0" err="1" smtClean="0">
                <a:hlinkClick r:id="rId3"/>
              </a:rPr>
              <a:t>deklaravimas.vmi.lt</a:t>
            </a:r>
            <a:r>
              <a:rPr lang="lt-LT" dirty="0" smtClean="0"/>
              <a:t>)</a:t>
            </a:r>
          </a:p>
          <a:p>
            <a:r>
              <a:rPr lang="lt-LT" dirty="0" smtClean="0"/>
              <a:t>Radiacinės </a:t>
            </a:r>
            <a:r>
              <a:rPr lang="lt-LT" dirty="0"/>
              <a:t>saugos centras (VP, IP) (</a:t>
            </a:r>
            <a:r>
              <a:rPr lang="lt-LT" sz="1800" dirty="0">
                <a:hlinkClick r:id="rId4"/>
              </a:rPr>
              <a:t>www.rsc.lt</a:t>
            </a:r>
            <a:r>
              <a:rPr lang="lt-LT" dirty="0"/>
              <a:t>)</a:t>
            </a:r>
          </a:p>
          <a:p>
            <a:r>
              <a:rPr lang="lt-LT" dirty="0" smtClean="0"/>
              <a:t>Lietuvos </a:t>
            </a:r>
            <a:r>
              <a:rPr lang="lt-LT" dirty="0"/>
              <a:t>Darbo Birža (VP, IP) (</a:t>
            </a:r>
            <a:r>
              <a:rPr lang="lt-LT" sz="1800" dirty="0">
                <a:hlinkClick r:id="rId5"/>
              </a:rPr>
              <a:t>www.ldb.lt</a:t>
            </a:r>
            <a:r>
              <a:rPr lang="lt-LT" dirty="0" smtClean="0"/>
              <a:t>)</a:t>
            </a:r>
          </a:p>
          <a:p>
            <a:r>
              <a:rPr lang="lt-LT" dirty="0" smtClean="0"/>
              <a:t>LDT, ESO, </a:t>
            </a:r>
            <a:r>
              <a:rPr lang="lt-LT" dirty="0" err="1" smtClean="0"/>
              <a:t>AmberGrid</a:t>
            </a:r>
            <a:endParaRPr lang="lt-LT" dirty="0"/>
          </a:p>
          <a:p>
            <a:r>
              <a:rPr lang="lt-LT" dirty="0" smtClean="0"/>
              <a:t>METIS (</a:t>
            </a:r>
            <a:r>
              <a:rPr lang="lt-LT" sz="1800" dirty="0" smtClean="0">
                <a:hlinkClick r:id="rId6"/>
              </a:rPr>
              <a:t>www.meteo.lt</a:t>
            </a:r>
            <a:r>
              <a:rPr lang="lt-LT" dirty="0" smtClean="0"/>
              <a:t>)</a:t>
            </a:r>
          </a:p>
          <a:p>
            <a:r>
              <a:rPr lang="lt-LT" dirty="0"/>
              <a:t>UAB „</a:t>
            </a:r>
            <a:r>
              <a:rPr lang="lt-LT" dirty="0" err="1"/>
              <a:t>Movere</a:t>
            </a:r>
            <a:r>
              <a:rPr lang="lt-LT" dirty="0"/>
              <a:t>“</a:t>
            </a:r>
          </a:p>
          <a:p>
            <a:r>
              <a:rPr lang="lt-LT" dirty="0" smtClean="0"/>
              <a:t>Daug smulkesnių ...</a:t>
            </a:r>
            <a:endParaRPr lang="lt-LT" dirty="0"/>
          </a:p>
          <a:p>
            <a:endParaRPr lang="lt-LT" dirty="0"/>
          </a:p>
        </p:txBody>
      </p:sp>
    </p:spTree>
    <p:extLst>
      <p:ext uri="{BB962C8B-B14F-4D97-AF65-F5344CB8AC3E}">
        <p14:creationId xmlns:p14="http://schemas.microsoft.com/office/powerpoint/2010/main" val="188546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6948055" cy="716915"/>
          </a:xfrm>
        </p:spPr>
        <p:txBody>
          <a:bodyPr/>
          <a:lstStyle/>
          <a:p>
            <a:r>
              <a:rPr lang="lt-LT" dirty="0" smtClean="0"/>
              <a:t>EDS architektūrinė schema</a:t>
            </a:r>
            <a:endParaRPr lang="lt-LT" dirty="0"/>
          </a:p>
        </p:txBody>
      </p:sp>
      <p:pic>
        <p:nvPicPr>
          <p:cNvPr id="4" name="Picture 3"/>
          <p:cNvPicPr>
            <a:picLocks noChangeAspect="1"/>
          </p:cNvPicPr>
          <p:nvPr/>
        </p:nvPicPr>
        <p:blipFill>
          <a:blip r:embed="rId3"/>
          <a:stretch>
            <a:fillRect/>
          </a:stretch>
        </p:blipFill>
        <p:spPr>
          <a:xfrm>
            <a:off x="1091100" y="1082040"/>
            <a:ext cx="8713971" cy="5185410"/>
          </a:xfrm>
          <a:prstGeom prst="rect">
            <a:avLst/>
          </a:prstGeom>
        </p:spPr>
      </p:pic>
    </p:spTree>
    <p:extLst>
      <p:ext uri="{BB962C8B-B14F-4D97-AF65-F5344CB8AC3E}">
        <p14:creationId xmlns:p14="http://schemas.microsoft.com/office/powerpoint/2010/main" val="36530620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7829550" cy="1325563"/>
          </a:xfrm>
        </p:spPr>
        <p:txBody>
          <a:bodyPr/>
          <a:lstStyle/>
          <a:p>
            <a:r>
              <a:rPr lang="lt-LT" dirty="0" smtClean="0"/>
              <a:t>Ko reikia, kad tapti programuotoju?</a:t>
            </a:r>
            <a:endParaRPr lang="lt-LT" dirty="0"/>
          </a:p>
        </p:txBody>
      </p:sp>
      <p:sp>
        <p:nvSpPr>
          <p:cNvPr id="3" name="Content Placeholder 2"/>
          <p:cNvSpPr>
            <a:spLocks noGrp="1"/>
          </p:cNvSpPr>
          <p:nvPr>
            <p:ph idx="1"/>
          </p:nvPr>
        </p:nvSpPr>
        <p:spPr/>
        <p:txBody>
          <a:bodyPr/>
          <a:lstStyle/>
          <a:p>
            <a:r>
              <a:rPr lang="lt-LT" dirty="0" smtClean="0"/>
              <a:t>Matematika, fizika, loginiai mokslai</a:t>
            </a:r>
          </a:p>
          <a:p>
            <a:r>
              <a:rPr lang="lt-LT" dirty="0" smtClean="0"/>
              <a:t>Charakterio ypatybės</a:t>
            </a:r>
          </a:p>
          <a:p>
            <a:r>
              <a:rPr lang="lt-LT" dirty="0" smtClean="0"/>
              <a:t>Komunikacija</a:t>
            </a:r>
          </a:p>
          <a:p>
            <a:r>
              <a:rPr lang="lt-LT" dirty="0" smtClean="0"/>
              <a:t>Pastovus tobulėjimas</a:t>
            </a:r>
          </a:p>
          <a:p>
            <a:r>
              <a:rPr lang="lt-LT" dirty="0" smtClean="0"/>
              <a:t>Malonumas</a:t>
            </a:r>
          </a:p>
          <a:p>
            <a:endParaRPr lang="lt-LT" dirty="0"/>
          </a:p>
        </p:txBody>
      </p:sp>
      <p:pic>
        <p:nvPicPr>
          <p:cNvPr id="5" name="Content Placeholder 3"/>
          <p:cNvPicPr>
            <a:picLocks noChangeAspect="1"/>
          </p:cNvPicPr>
          <p:nvPr/>
        </p:nvPicPr>
        <p:blipFill>
          <a:blip r:embed="rId3"/>
          <a:stretch>
            <a:fillRect/>
          </a:stretch>
        </p:blipFill>
        <p:spPr>
          <a:xfrm>
            <a:off x="6454993" y="2476499"/>
            <a:ext cx="4256421" cy="4114541"/>
          </a:xfrm>
          <a:prstGeom prst="rect">
            <a:avLst/>
          </a:prstGeom>
        </p:spPr>
      </p:pic>
    </p:spTree>
    <p:extLst>
      <p:ext uri="{BB962C8B-B14F-4D97-AF65-F5344CB8AC3E}">
        <p14:creationId xmlns:p14="http://schemas.microsoft.com/office/powerpoint/2010/main" val="3529352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a:t>Kur galima mokytis?</a:t>
            </a:r>
          </a:p>
        </p:txBody>
      </p:sp>
      <p:sp>
        <p:nvSpPr>
          <p:cNvPr id="3" name="Content Placeholder 2"/>
          <p:cNvSpPr>
            <a:spLocks noGrp="1"/>
          </p:cNvSpPr>
          <p:nvPr>
            <p:ph idx="1"/>
          </p:nvPr>
        </p:nvSpPr>
        <p:spPr/>
        <p:txBody>
          <a:bodyPr/>
          <a:lstStyle/>
          <a:p>
            <a:r>
              <a:rPr lang="lt-LT" dirty="0"/>
              <a:t>Specializuotos mokyklos (Vilnius </a:t>
            </a:r>
            <a:r>
              <a:rPr lang="lt-LT" dirty="0" err="1"/>
              <a:t>Coding</a:t>
            </a:r>
            <a:r>
              <a:rPr lang="lt-LT" dirty="0"/>
              <a:t> </a:t>
            </a:r>
            <a:r>
              <a:rPr lang="lt-LT" dirty="0" err="1"/>
              <a:t>School</a:t>
            </a:r>
            <a:r>
              <a:rPr lang="lt-LT" dirty="0"/>
              <a:t>, etc.)</a:t>
            </a:r>
          </a:p>
          <a:p>
            <a:r>
              <a:rPr lang="lt-LT" dirty="0" err="1"/>
              <a:t>Video</a:t>
            </a:r>
            <a:r>
              <a:rPr lang="lt-LT" dirty="0"/>
              <a:t> </a:t>
            </a:r>
            <a:r>
              <a:rPr lang="lt-LT" dirty="0" smtClean="0"/>
              <a:t>pamokos (</a:t>
            </a:r>
            <a:r>
              <a:rPr lang="lt-LT" sz="1800" dirty="0" smtClean="0">
                <a:hlinkClick r:id="rId3"/>
              </a:rPr>
              <a:t>www.pluralsight.com</a:t>
            </a:r>
            <a:r>
              <a:rPr lang="lt-LT" sz="1800" dirty="0"/>
              <a:t>, </a:t>
            </a:r>
            <a:r>
              <a:rPr lang="lt-LT" sz="1800" dirty="0">
                <a:hlinkClick r:id="rId4"/>
              </a:rPr>
              <a:t>www.visualstudio.com/vs/getting-started</a:t>
            </a:r>
            <a:r>
              <a:rPr lang="lt-LT" sz="1800" dirty="0"/>
              <a:t>, </a:t>
            </a:r>
            <a:r>
              <a:rPr lang="lt-LT" sz="1800" dirty="0">
                <a:hlinkClick r:id="rId5"/>
              </a:rPr>
              <a:t>www.lynda.com/Visual-Studio-tutorials</a:t>
            </a:r>
            <a:r>
              <a:rPr lang="lt-LT" dirty="0"/>
              <a:t>, etc.)</a:t>
            </a:r>
          </a:p>
          <a:p>
            <a:r>
              <a:rPr lang="lt-LT" dirty="0"/>
              <a:t>Informacija internete (</a:t>
            </a:r>
            <a:r>
              <a:rPr lang="lt-LT" sz="1800" dirty="0">
                <a:hlinkClick r:id="rId6"/>
              </a:rPr>
              <a:t>www.stackoverflow.com</a:t>
            </a:r>
            <a:r>
              <a:rPr lang="lt-LT" dirty="0"/>
              <a:t>, etc.)</a:t>
            </a:r>
          </a:p>
          <a:p>
            <a:r>
              <a:rPr lang="lt-LT" dirty="0" smtClean="0"/>
              <a:t>Tiesiog </a:t>
            </a:r>
            <a:r>
              <a:rPr lang="lt-LT" dirty="0" err="1" smtClean="0"/>
              <a:t>google</a:t>
            </a:r>
            <a:r>
              <a:rPr lang="lt-LT" dirty="0" smtClean="0"/>
              <a:t>-it (</a:t>
            </a:r>
            <a:r>
              <a:rPr lang="lt-LT" sz="1800" dirty="0" err="1"/>
              <a:t>how</a:t>
            </a:r>
            <a:r>
              <a:rPr lang="lt-LT" sz="1800" dirty="0"/>
              <a:t> </a:t>
            </a:r>
            <a:r>
              <a:rPr lang="lt-LT" sz="1800" dirty="0" smtClean="0"/>
              <a:t>to</a:t>
            </a:r>
            <a:r>
              <a:rPr lang="lt-LT" sz="1800" dirty="0">
                <a:sym typeface="Wingdings" panose="05000000000000000000" pitchFamily="2" charset="2"/>
              </a:rPr>
              <a:t>...</a:t>
            </a:r>
            <a:r>
              <a:rPr lang="lt-LT" dirty="0" smtClean="0"/>
              <a:t>)</a:t>
            </a:r>
            <a:endParaRPr lang="lt-LT" dirty="0" smtClean="0">
              <a:sym typeface="Wingdings" panose="05000000000000000000" pitchFamily="2" charset="2"/>
            </a:endParaRPr>
          </a:p>
          <a:p>
            <a:r>
              <a:rPr lang="lt-LT" dirty="0" smtClean="0">
                <a:sym typeface="Wingdings" panose="05000000000000000000" pitchFamily="2" charset="2"/>
              </a:rPr>
              <a:t>Praktika įmonėse (</a:t>
            </a:r>
            <a:r>
              <a:rPr lang="lt-LT" sz="1800" dirty="0" err="1">
                <a:sym typeface="Wingdings" panose="05000000000000000000" pitchFamily="2" charset="2"/>
              </a:rPr>
              <a:t>pvz</a:t>
            </a:r>
            <a:r>
              <a:rPr lang="lt-LT" sz="1800" dirty="0">
                <a:sym typeface="Wingdings" panose="05000000000000000000" pitchFamily="2" charset="2"/>
              </a:rPr>
              <a:t> ASW </a:t>
            </a:r>
            <a:r>
              <a:rPr lang="lt-LT" dirty="0" smtClean="0">
                <a:sym typeface="Wingdings" panose="05000000000000000000" pitchFamily="2" charset="2"/>
              </a:rPr>
              <a:t>)</a:t>
            </a:r>
            <a:endParaRPr lang="lt-LT" dirty="0"/>
          </a:p>
        </p:txBody>
      </p:sp>
    </p:spTree>
    <p:extLst>
      <p:ext uri="{BB962C8B-B14F-4D97-AF65-F5344CB8AC3E}">
        <p14:creationId xmlns:p14="http://schemas.microsoft.com/office/powerpoint/2010/main" val="127425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a:t>Ko dar prireiks?</a:t>
            </a:r>
          </a:p>
        </p:txBody>
      </p:sp>
      <p:sp>
        <p:nvSpPr>
          <p:cNvPr id="3" name="Content Placeholder 2"/>
          <p:cNvSpPr>
            <a:spLocks noGrp="1"/>
          </p:cNvSpPr>
          <p:nvPr>
            <p:ph idx="1"/>
          </p:nvPr>
        </p:nvSpPr>
        <p:spPr/>
        <p:txBody>
          <a:bodyPr/>
          <a:lstStyle/>
          <a:p>
            <a:r>
              <a:rPr lang="lt-LT" dirty="0"/>
              <a:t>Kodo </a:t>
            </a:r>
            <a:r>
              <a:rPr lang="lt-LT" dirty="0" err="1"/>
              <a:t>versijavimo</a:t>
            </a:r>
            <a:r>
              <a:rPr lang="lt-LT" dirty="0"/>
              <a:t> sistemos (SVN, GIT, etc.)</a:t>
            </a:r>
          </a:p>
          <a:p>
            <a:r>
              <a:rPr lang="lt-LT" dirty="0"/>
              <a:t>3rd </a:t>
            </a:r>
            <a:r>
              <a:rPr lang="lt-LT" dirty="0" err="1"/>
              <a:t>party</a:t>
            </a:r>
            <a:r>
              <a:rPr lang="lt-LT" dirty="0"/>
              <a:t> </a:t>
            </a:r>
            <a:r>
              <a:rPr lang="lt-LT" dirty="0" err="1"/>
              <a:t>tools</a:t>
            </a:r>
            <a:r>
              <a:rPr lang="lt-LT" dirty="0"/>
              <a:t> (</a:t>
            </a:r>
            <a:r>
              <a:rPr lang="lt-LT" dirty="0" err="1"/>
              <a:t>Fiddler</a:t>
            </a:r>
            <a:r>
              <a:rPr lang="lt-LT" dirty="0"/>
              <a:t>, etc.)</a:t>
            </a:r>
          </a:p>
          <a:p>
            <a:r>
              <a:rPr lang="lt-LT" dirty="0"/>
              <a:t>UI </a:t>
            </a:r>
            <a:r>
              <a:rPr lang="lt-LT" dirty="0" smtClean="0"/>
              <a:t>komponentai </a:t>
            </a:r>
            <a:r>
              <a:rPr lang="lt-LT" dirty="0"/>
              <a:t>(</a:t>
            </a:r>
            <a:r>
              <a:rPr lang="lt-LT" dirty="0" err="1"/>
              <a:t>Telerik</a:t>
            </a:r>
            <a:r>
              <a:rPr lang="lt-LT" dirty="0"/>
              <a:t>, </a:t>
            </a:r>
            <a:r>
              <a:rPr lang="lt-LT" dirty="0" smtClean="0"/>
              <a:t>etc.)</a:t>
            </a:r>
            <a:endParaRPr lang="lt-LT" dirty="0"/>
          </a:p>
          <a:p>
            <a:endParaRPr lang="lt-LT" dirty="0"/>
          </a:p>
        </p:txBody>
      </p:sp>
      <p:pic>
        <p:nvPicPr>
          <p:cNvPr id="4" name="Picture 6"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4220120"/>
            <a:ext cx="1633219" cy="10207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git 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53558" y="4250282"/>
            <a:ext cx="9906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4158" y="3875957"/>
            <a:ext cx="3133492" cy="1739249"/>
          </a:xfrm>
          <a:prstGeom prst="rect">
            <a:avLst/>
          </a:prstGeom>
        </p:spPr>
      </p:pic>
    </p:spTree>
    <p:extLst>
      <p:ext uri="{BB962C8B-B14F-4D97-AF65-F5344CB8AC3E}">
        <p14:creationId xmlns:p14="http://schemas.microsoft.com/office/powerpoint/2010/main" val="4197092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smtClean="0"/>
              <a:t>Microsoft </a:t>
            </a:r>
            <a:r>
              <a:rPr lang="lt-LT" dirty="0"/>
              <a:t>.</a:t>
            </a:r>
            <a:r>
              <a:rPr lang="lt-LT" dirty="0" smtClean="0"/>
              <a:t>NET, pradžia</a:t>
            </a:r>
            <a:endParaRPr lang="lt-LT" dirty="0"/>
          </a:p>
        </p:txBody>
      </p:sp>
      <p:sp>
        <p:nvSpPr>
          <p:cNvPr id="3" name="Content Placeholder 2"/>
          <p:cNvSpPr>
            <a:spLocks noGrp="1"/>
          </p:cNvSpPr>
          <p:nvPr>
            <p:ph idx="1"/>
          </p:nvPr>
        </p:nvSpPr>
        <p:spPr>
          <a:xfrm>
            <a:off x="838200" y="1825625"/>
            <a:ext cx="6188242" cy="4351338"/>
          </a:xfrm>
        </p:spPr>
        <p:txBody>
          <a:bodyPr/>
          <a:lstStyle/>
          <a:p>
            <a:r>
              <a:rPr lang="lt-LT" dirty="0" smtClean="0"/>
              <a:t>2002.02.13 - </a:t>
            </a:r>
            <a:r>
              <a:rPr lang="lt-LT" dirty="0"/>
              <a:t>Gimimo data</a:t>
            </a:r>
            <a:endParaRPr lang="lt-LT" dirty="0" smtClean="0"/>
          </a:p>
          <a:p>
            <a:r>
              <a:rPr lang="lt-LT" dirty="0" smtClean="0"/>
              <a:t>2008.01.16 </a:t>
            </a:r>
            <a:r>
              <a:rPr lang="en-US" dirty="0" smtClean="0"/>
              <a:t>.NET </a:t>
            </a:r>
            <a:r>
              <a:rPr lang="en-US" dirty="0"/>
              <a:t>Framework 3.5 </a:t>
            </a:r>
            <a:r>
              <a:rPr lang="lt-LT" dirty="0" smtClean="0"/>
              <a:t>bibliotekų (</a:t>
            </a:r>
            <a:r>
              <a:rPr lang="lt-LT" sz="1800" dirty="0" smtClean="0"/>
              <a:t>ASP.NET, ADO.NET, WF, WPF, XML</a:t>
            </a:r>
            <a:r>
              <a:rPr lang="lt-LT" dirty="0" smtClean="0"/>
              <a:t>) išeities kodai tapo prieinami </a:t>
            </a:r>
            <a:r>
              <a:rPr lang="lt-LT" dirty="0"/>
              <a:t>per </a:t>
            </a:r>
            <a:r>
              <a:rPr lang="lt-LT" sz="2000" dirty="0"/>
              <a:t>Microsoft </a:t>
            </a:r>
            <a:r>
              <a:rPr lang="lt-LT" sz="2000" dirty="0" err="1"/>
              <a:t>Reference</a:t>
            </a:r>
            <a:r>
              <a:rPr lang="lt-LT" sz="2000" dirty="0"/>
              <a:t> </a:t>
            </a:r>
            <a:r>
              <a:rPr lang="lt-LT" sz="2000" dirty="0" err="1"/>
              <a:t>Source</a:t>
            </a:r>
            <a:r>
              <a:rPr lang="lt-LT" sz="2000" dirty="0"/>
              <a:t> </a:t>
            </a:r>
            <a:r>
              <a:rPr lang="lt-LT" sz="2000" dirty="0" err="1" smtClean="0"/>
              <a:t>License</a:t>
            </a:r>
            <a:r>
              <a:rPr lang="lt-LT" dirty="0" smtClean="0"/>
              <a:t>.</a:t>
            </a:r>
          </a:p>
          <a:p>
            <a:r>
              <a:rPr lang="lt-LT" dirty="0" smtClean="0"/>
              <a:t>2014.11.12 gimė .NET </a:t>
            </a:r>
            <a:r>
              <a:rPr lang="lt-LT" dirty="0" err="1" smtClean="0"/>
              <a:t>Core</a:t>
            </a:r>
            <a:r>
              <a:rPr lang="lt-LT" dirty="0" smtClean="0"/>
              <a:t> </a:t>
            </a:r>
            <a:endParaRPr lang="lt-LT" dirty="0"/>
          </a:p>
        </p:txBody>
      </p:sp>
      <p:pic>
        <p:nvPicPr>
          <p:cNvPr id="5" name="Picture 4"/>
          <p:cNvPicPr>
            <a:picLocks noChangeAspect="1"/>
          </p:cNvPicPr>
          <p:nvPr/>
        </p:nvPicPr>
        <p:blipFill>
          <a:blip r:embed="rId3"/>
          <a:stretch>
            <a:fillRect/>
          </a:stretch>
        </p:blipFill>
        <p:spPr>
          <a:xfrm>
            <a:off x="7122695" y="1498719"/>
            <a:ext cx="3445250" cy="4929358"/>
          </a:xfrm>
          <a:prstGeom prst="rect">
            <a:avLst/>
          </a:prstGeom>
        </p:spPr>
      </p:pic>
    </p:spTree>
    <p:extLst>
      <p:ext uri="{BB962C8B-B14F-4D97-AF65-F5344CB8AC3E}">
        <p14:creationId xmlns:p14="http://schemas.microsoft.com/office/powerpoint/2010/main" val="14351636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smtClean="0"/>
              <a:t>Kas yra Microsoft .NET</a:t>
            </a:r>
            <a:endParaRPr lang="lt-LT" dirty="0"/>
          </a:p>
        </p:txBody>
      </p:sp>
      <p:sp>
        <p:nvSpPr>
          <p:cNvPr id="3" name="Content Placeholder 2"/>
          <p:cNvSpPr>
            <a:spLocks noGrp="1"/>
          </p:cNvSpPr>
          <p:nvPr>
            <p:ph idx="1"/>
          </p:nvPr>
        </p:nvSpPr>
        <p:spPr/>
        <p:txBody>
          <a:bodyPr/>
          <a:lstStyle/>
          <a:p>
            <a:pPr marL="609600" indent="-609600" algn="ctr">
              <a:buNone/>
            </a:pPr>
            <a:r>
              <a:rPr lang="en-US" altLang="lt-LT" dirty="0"/>
              <a:t>.NET </a:t>
            </a:r>
            <a:r>
              <a:rPr lang="lt-LT" altLang="lt-LT" dirty="0">
                <a:solidFill>
                  <a:srgbClr val="0070C0"/>
                </a:solidFill>
              </a:rPr>
              <a:t>pagrindiniai</a:t>
            </a:r>
            <a:r>
              <a:rPr lang="lt-LT" altLang="lt-LT" dirty="0"/>
              <a:t> aspektai</a:t>
            </a:r>
            <a:r>
              <a:rPr lang="ru-RU" altLang="lt-LT" dirty="0"/>
              <a:t>:</a:t>
            </a:r>
          </a:p>
          <a:p>
            <a:pPr marL="609600" indent="-609600" algn="ctr">
              <a:buNone/>
            </a:pPr>
            <a:endParaRPr lang="ru-RU" altLang="lt-LT" sz="1050" dirty="0"/>
          </a:p>
          <a:p>
            <a:pPr marL="609600" indent="-609600">
              <a:buFontTx/>
              <a:buAutoNum type="arabicPeriod"/>
            </a:pPr>
            <a:r>
              <a:rPr lang="lt-LT" altLang="lt-LT" dirty="0"/>
              <a:t>Programinės įrangos projektavimo ir </a:t>
            </a:r>
            <a:r>
              <a:rPr lang="lt-LT" altLang="lt-LT" dirty="0" smtClean="0"/>
              <a:t>kūrimo </a:t>
            </a:r>
            <a:r>
              <a:rPr lang="lt-LT" altLang="lt-LT" dirty="0" smtClean="0">
                <a:solidFill>
                  <a:srgbClr val="0070C0"/>
                </a:solidFill>
              </a:rPr>
              <a:t>Ideologija</a:t>
            </a:r>
            <a:endParaRPr lang="ru-RU" altLang="lt-LT" dirty="0">
              <a:solidFill>
                <a:srgbClr val="0070C0"/>
              </a:solidFill>
            </a:endParaRPr>
          </a:p>
          <a:p>
            <a:pPr marL="609600" indent="-609600">
              <a:buFontTx/>
              <a:buAutoNum type="arabicPeriod"/>
            </a:pPr>
            <a:endParaRPr lang="ru-RU" altLang="lt-LT" sz="1050" dirty="0"/>
          </a:p>
          <a:p>
            <a:pPr marL="609600" indent="-609600">
              <a:buFontTx/>
              <a:buAutoNum type="arabicPeriod"/>
            </a:pPr>
            <a:r>
              <a:rPr lang="lt-LT" altLang="lt-LT" dirty="0"/>
              <a:t>Efektyvaus taikomųjų sistemų gyvenimo ciklo </a:t>
            </a:r>
            <a:r>
              <a:rPr lang="lt-LT" altLang="lt-LT" dirty="0">
                <a:solidFill>
                  <a:srgbClr val="0070C0"/>
                </a:solidFill>
              </a:rPr>
              <a:t>Modelis</a:t>
            </a:r>
            <a:endParaRPr lang="ru-RU" altLang="lt-LT" dirty="0">
              <a:solidFill>
                <a:srgbClr val="0070C0"/>
              </a:solidFill>
            </a:endParaRPr>
          </a:p>
          <a:p>
            <a:pPr marL="609600" indent="-609600">
              <a:buFontTx/>
              <a:buAutoNum type="arabicPeriod"/>
            </a:pPr>
            <a:endParaRPr lang="ru-RU" altLang="lt-LT" sz="1050" dirty="0"/>
          </a:p>
          <a:p>
            <a:pPr marL="609600" indent="-609600">
              <a:buFontTx/>
              <a:buAutoNum type="arabicPeriod"/>
            </a:pPr>
            <a:r>
              <a:rPr lang="lt-LT" altLang="lt-LT" dirty="0"/>
              <a:t>Unifikuota, integruota technologinė </a:t>
            </a:r>
            <a:r>
              <a:rPr lang="lt-LT" altLang="lt-LT" dirty="0">
                <a:solidFill>
                  <a:srgbClr val="0070C0"/>
                </a:solidFill>
              </a:rPr>
              <a:t>Platforma</a:t>
            </a:r>
            <a:endParaRPr lang="ru-RU" altLang="lt-LT" u="sng" dirty="0">
              <a:solidFill>
                <a:srgbClr val="0070C0"/>
              </a:solidFill>
            </a:endParaRPr>
          </a:p>
          <a:p>
            <a:pPr marL="609600" indent="-609600">
              <a:buFontTx/>
              <a:buAutoNum type="arabicPeriod"/>
            </a:pPr>
            <a:endParaRPr lang="ru-RU" altLang="lt-LT" sz="1050" u="sng" dirty="0"/>
          </a:p>
          <a:p>
            <a:pPr marL="609600" indent="-609600">
              <a:buFontTx/>
              <a:buAutoNum type="arabicPeriod"/>
            </a:pPr>
            <a:r>
              <a:rPr lang="lt-LT" altLang="lt-LT" dirty="0"/>
              <a:t>Šiuolaikinis, patogus naudoti, saugus </a:t>
            </a:r>
            <a:r>
              <a:rPr lang="lt-LT" altLang="lt-LT" dirty="0">
                <a:solidFill>
                  <a:srgbClr val="0070C0"/>
                </a:solidFill>
              </a:rPr>
              <a:t>Instrumentas</a:t>
            </a:r>
            <a:r>
              <a:rPr lang="lt-LT" altLang="lt-LT" dirty="0"/>
              <a:t> kurti, diegti ir palaikyti programinę įrangą</a:t>
            </a:r>
            <a:endParaRPr lang="ru-RU" altLang="lt-LT" dirty="0"/>
          </a:p>
          <a:p>
            <a:endParaRPr lang="lt-LT" dirty="0"/>
          </a:p>
        </p:txBody>
      </p:sp>
    </p:spTree>
    <p:extLst>
      <p:ext uri="{BB962C8B-B14F-4D97-AF65-F5344CB8AC3E}">
        <p14:creationId xmlns:p14="http://schemas.microsoft.com/office/powerpoint/2010/main" val="2283080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lt-LT" b="1" dirty="0"/>
              <a:t>.NET</a:t>
            </a:r>
            <a:r>
              <a:rPr lang="ru-RU" altLang="lt-LT" b="1" dirty="0"/>
              <a:t> </a:t>
            </a:r>
            <a:r>
              <a:rPr lang="lt-LT" altLang="lt-LT" dirty="0"/>
              <a:t>iš ideologijos </a:t>
            </a:r>
            <a:r>
              <a:rPr lang="lt-LT" altLang="lt-LT" dirty="0" smtClean="0"/>
              <a:t>taško</a:t>
            </a:r>
            <a:endParaRPr lang="lt-LT" dirty="0"/>
          </a:p>
        </p:txBody>
      </p:sp>
      <p:sp>
        <p:nvSpPr>
          <p:cNvPr id="3" name="Content Placeholder 2"/>
          <p:cNvSpPr>
            <a:spLocks noGrp="1"/>
          </p:cNvSpPr>
          <p:nvPr>
            <p:ph idx="1"/>
          </p:nvPr>
        </p:nvSpPr>
        <p:spPr/>
        <p:txBody>
          <a:bodyPr/>
          <a:lstStyle/>
          <a:p>
            <a:pPr marL="609600" indent="-609600">
              <a:buFontTx/>
              <a:buAutoNum type="arabicPeriod"/>
            </a:pPr>
            <a:r>
              <a:rPr lang="lt-LT" altLang="lt-LT" dirty="0"/>
              <a:t>Lengvas programinės įrangos diegimas bei palaikymas internete</a:t>
            </a:r>
            <a:endParaRPr lang="ru-RU" altLang="lt-LT" dirty="0"/>
          </a:p>
          <a:p>
            <a:pPr marL="609600" indent="-609600">
              <a:buFontTx/>
              <a:buAutoNum type="arabicPeriod"/>
            </a:pPr>
            <a:r>
              <a:rPr lang="lt-LT" altLang="lt-LT" dirty="0" smtClean="0"/>
              <a:t>Ekonomiškai </a:t>
            </a:r>
            <a:r>
              <a:rPr lang="lt-LT" altLang="lt-LT" dirty="0"/>
              <a:t>efektyvus programinės įrangos kūrimas</a:t>
            </a:r>
            <a:endParaRPr lang="ru-RU" altLang="lt-LT" dirty="0"/>
          </a:p>
          <a:p>
            <a:pPr marL="609600" indent="-609600">
              <a:buFontTx/>
              <a:buAutoNum type="arabicPeriod"/>
            </a:pPr>
            <a:r>
              <a:rPr lang="lt-LT" altLang="lt-LT" dirty="0" smtClean="0"/>
              <a:t>Galimybė </a:t>
            </a:r>
            <a:r>
              <a:rPr lang="lt-LT" altLang="lt-LT" dirty="0"/>
              <a:t>pateikti programinę įrangą kaip </a:t>
            </a:r>
            <a:r>
              <a:rPr lang="lt-LT" altLang="lt-LT" dirty="0" err="1">
                <a:solidFill>
                  <a:schemeClr val="accent1">
                    <a:lumMod val="75000"/>
                  </a:schemeClr>
                </a:solidFill>
              </a:rPr>
              <a:t>SaaS</a:t>
            </a:r>
            <a:endParaRPr lang="ru-RU" altLang="lt-LT" dirty="0">
              <a:solidFill>
                <a:schemeClr val="accent1">
                  <a:lumMod val="75000"/>
                </a:schemeClr>
              </a:solidFill>
            </a:endParaRPr>
          </a:p>
          <a:p>
            <a:pPr marL="609600" indent="-609600">
              <a:buFontTx/>
              <a:buAutoNum type="arabicPeriod"/>
            </a:pPr>
            <a:r>
              <a:rPr lang="lt-LT" altLang="lt-LT" dirty="0" smtClean="0"/>
              <a:t>Naujas</a:t>
            </a:r>
            <a:r>
              <a:rPr lang="ru-RU" altLang="lt-LT" dirty="0" smtClean="0"/>
              <a:t> </a:t>
            </a:r>
            <a:r>
              <a:rPr lang="lt-LT" altLang="lt-LT" dirty="0">
                <a:solidFill>
                  <a:schemeClr val="accent1">
                    <a:lumMod val="75000"/>
                  </a:schemeClr>
                </a:solidFill>
              </a:rPr>
              <a:t>saugumo</a:t>
            </a:r>
            <a:r>
              <a:rPr lang="ru-RU" altLang="lt-LT" dirty="0">
                <a:solidFill>
                  <a:schemeClr val="accent1">
                    <a:lumMod val="75000"/>
                  </a:schemeClr>
                </a:solidFill>
              </a:rPr>
              <a:t> </a:t>
            </a:r>
            <a:r>
              <a:rPr lang="lt-LT" altLang="lt-LT" dirty="0"/>
              <a:t>ir naudojimo </a:t>
            </a:r>
            <a:r>
              <a:rPr lang="lt-LT" altLang="lt-LT" dirty="0">
                <a:solidFill>
                  <a:schemeClr val="accent1">
                    <a:lumMod val="75000"/>
                  </a:schemeClr>
                </a:solidFill>
              </a:rPr>
              <a:t>patogumo</a:t>
            </a:r>
            <a:r>
              <a:rPr lang="ru-RU" altLang="lt-LT" dirty="0">
                <a:solidFill>
                  <a:schemeClr val="accent1">
                    <a:lumMod val="75000"/>
                  </a:schemeClr>
                </a:solidFill>
              </a:rPr>
              <a:t> </a:t>
            </a:r>
            <a:r>
              <a:rPr lang="lt-LT" altLang="lt-LT" dirty="0"/>
              <a:t>lygis</a:t>
            </a:r>
            <a:endParaRPr lang="ru-RU" altLang="lt-LT" dirty="0"/>
          </a:p>
          <a:p>
            <a:endParaRPr lang="lt-LT" dirty="0"/>
          </a:p>
        </p:txBody>
      </p:sp>
    </p:spTree>
    <p:extLst>
      <p:ext uri="{BB962C8B-B14F-4D97-AF65-F5344CB8AC3E}">
        <p14:creationId xmlns:p14="http://schemas.microsoft.com/office/powerpoint/2010/main" val="25294477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lt-LT" b="1" dirty="0"/>
              <a:t>.NET</a:t>
            </a:r>
            <a:r>
              <a:rPr lang="ru-RU" altLang="lt-LT" b="1" dirty="0"/>
              <a:t> </a:t>
            </a:r>
            <a:r>
              <a:rPr lang="lt-LT" altLang="lt-LT" dirty="0"/>
              <a:t>kaip gyvenimo ciklo </a:t>
            </a:r>
            <a:r>
              <a:rPr lang="lt-LT" altLang="lt-LT" dirty="0" smtClean="0"/>
              <a:t>modelis</a:t>
            </a:r>
            <a:endParaRPr lang="lt-LT" dirty="0"/>
          </a:p>
        </p:txBody>
      </p:sp>
      <p:sp>
        <p:nvSpPr>
          <p:cNvPr id="3" name="Content Placeholder 2"/>
          <p:cNvSpPr>
            <a:spLocks noGrp="1"/>
          </p:cNvSpPr>
          <p:nvPr>
            <p:ph idx="1"/>
          </p:nvPr>
        </p:nvSpPr>
        <p:spPr/>
        <p:txBody>
          <a:bodyPr>
            <a:normAutofit lnSpcReduction="10000"/>
          </a:bodyPr>
          <a:lstStyle/>
          <a:p>
            <a:pPr marL="609600" indent="-609600">
              <a:buFontTx/>
              <a:buAutoNum type="arabicPeriod"/>
            </a:pPr>
            <a:r>
              <a:rPr lang="lt-LT" altLang="lt-LT" dirty="0" err="1">
                <a:solidFill>
                  <a:schemeClr val="accent1">
                    <a:lumMod val="75000"/>
                  </a:schemeClr>
                </a:solidFill>
              </a:rPr>
              <a:t>Komponentinis</a:t>
            </a:r>
            <a:r>
              <a:rPr lang="lt-LT" altLang="lt-LT" dirty="0">
                <a:solidFill>
                  <a:schemeClr val="accent1">
                    <a:lumMod val="75000"/>
                  </a:schemeClr>
                </a:solidFill>
              </a:rPr>
              <a:t> </a:t>
            </a:r>
            <a:r>
              <a:rPr lang="lt-LT" altLang="lt-LT" dirty="0"/>
              <a:t>priėjimas kaip OOP modelio </a:t>
            </a:r>
            <a:r>
              <a:rPr lang="lt-LT" altLang="lt-LT" dirty="0" smtClean="0"/>
              <a:t>vystymas (COM, </a:t>
            </a:r>
            <a:r>
              <a:rPr lang="lt-LT" altLang="lt-LT" dirty="0" err="1" smtClean="0"/>
              <a:t>ActiveX</a:t>
            </a:r>
            <a:r>
              <a:rPr lang="lt-LT" altLang="lt-LT" dirty="0" smtClean="0"/>
              <a:t>,  OLE ..)</a:t>
            </a:r>
            <a:endParaRPr lang="ru-RU" altLang="lt-LT" dirty="0"/>
          </a:p>
          <a:p>
            <a:pPr marL="609600" indent="-609600">
              <a:buFontTx/>
              <a:buAutoNum type="arabicPeriod"/>
            </a:pPr>
            <a:endParaRPr lang="ru-RU" altLang="lt-LT" sz="1050" dirty="0"/>
          </a:p>
          <a:p>
            <a:pPr marL="609600" indent="-609600">
              <a:buFontTx/>
              <a:buAutoNum type="arabicPeriod"/>
            </a:pPr>
            <a:r>
              <a:rPr lang="lt-LT" altLang="lt-LT" dirty="0"/>
              <a:t>Universali </a:t>
            </a:r>
            <a:r>
              <a:rPr lang="lt-LT" altLang="lt-LT" dirty="0" smtClean="0">
                <a:solidFill>
                  <a:schemeClr val="accent1">
                    <a:lumMod val="75000"/>
                  </a:schemeClr>
                </a:solidFill>
              </a:rPr>
              <a:t>tipų</a:t>
            </a:r>
            <a:r>
              <a:rPr lang="lt-LT" altLang="lt-LT" dirty="0" smtClean="0"/>
              <a:t> sistema</a:t>
            </a:r>
            <a:r>
              <a:rPr lang="ru-RU" altLang="lt-LT" dirty="0"/>
              <a:t>: </a:t>
            </a:r>
            <a:r>
              <a:rPr lang="lt-LT" altLang="lt-LT" dirty="0"/>
              <a:t>„kiekviena esybė yra objektas“</a:t>
            </a:r>
            <a:r>
              <a:rPr lang="ru-RU" altLang="lt-LT" dirty="0"/>
              <a:t>; </a:t>
            </a:r>
            <a:r>
              <a:rPr lang="lt-LT" altLang="lt-LT" dirty="0"/>
              <a:t>duomenų ir </a:t>
            </a:r>
            <a:r>
              <a:rPr lang="lt-LT" altLang="lt-LT" dirty="0" smtClean="0"/>
              <a:t>meta-duomenų </a:t>
            </a:r>
            <a:r>
              <a:rPr lang="lt-LT" altLang="lt-LT" dirty="0"/>
              <a:t>unifikacija</a:t>
            </a:r>
            <a:endParaRPr lang="ru-RU" altLang="lt-LT" dirty="0"/>
          </a:p>
          <a:p>
            <a:pPr marL="609600" indent="-609600">
              <a:buFontTx/>
              <a:buAutoNum type="arabicPeriod"/>
            </a:pPr>
            <a:endParaRPr lang="ru-RU" altLang="lt-LT" sz="1050" dirty="0"/>
          </a:p>
          <a:p>
            <a:pPr marL="609600" indent="-609600">
              <a:buFontTx/>
              <a:buAutoNum type="arabicPeriod"/>
            </a:pPr>
            <a:r>
              <a:rPr lang="lt-LT" altLang="lt-LT" dirty="0"/>
              <a:t>Griežtai </a:t>
            </a:r>
            <a:r>
              <a:rPr lang="lt-LT" altLang="lt-LT" dirty="0">
                <a:solidFill>
                  <a:schemeClr val="accent1">
                    <a:lumMod val="75000"/>
                  </a:schemeClr>
                </a:solidFill>
              </a:rPr>
              <a:t>hierarchinis</a:t>
            </a:r>
            <a:r>
              <a:rPr lang="ru-RU" altLang="lt-LT" dirty="0">
                <a:solidFill>
                  <a:schemeClr val="accent1">
                    <a:lumMod val="75000"/>
                  </a:schemeClr>
                </a:solidFill>
              </a:rPr>
              <a:t> </a:t>
            </a:r>
            <a:r>
              <a:rPr lang="lt-LT" altLang="lt-LT" dirty="0" err="1"/>
              <a:t>namespaces</a:t>
            </a:r>
            <a:r>
              <a:rPr lang="lt-LT" altLang="lt-LT" dirty="0"/>
              <a:t>,</a:t>
            </a:r>
            <a:r>
              <a:rPr lang="ru-RU" altLang="lt-LT" dirty="0"/>
              <a:t> </a:t>
            </a:r>
            <a:r>
              <a:rPr lang="lt-LT" altLang="lt-LT" dirty="0"/>
              <a:t>kodo ir klasių organizavimas</a:t>
            </a:r>
            <a:endParaRPr lang="ru-RU" altLang="lt-LT" dirty="0"/>
          </a:p>
          <a:p>
            <a:pPr marL="609600" indent="-609600">
              <a:buFontTx/>
              <a:buAutoNum type="arabicPeriod"/>
            </a:pPr>
            <a:endParaRPr lang="ru-RU" altLang="lt-LT" sz="1050" dirty="0"/>
          </a:p>
          <a:p>
            <a:pPr marL="609600" indent="-609600">
              <a:buFontTx/>
              <a:buAutoNum type="arabicPeriod"/>
            </a:pPr>
            <a:r>
              <a:rPr lang="lt-LT" altLang="lt-LT" dirty="0"/>
              <a:t>Universalus </a:t>
            </a:r>
            <a:r>
              <a:rPr lang="en-US" altLang="lt-LT" dirty="0"/>
              <a:t>.NET Framework </a:t>
            </a:r>
            <a:r>
              <a:rPr lang="lt-LT" altLang="lt-LT" dirty="0" err="1">
                <a:solidFill>
                  <a:schemeClr val="accent1">
                    <a:lumMod val="75000"/>
                  </a:schemeClr>
                </a:solidFill>
              </a:rPr>
              <a:t>interfeisas</a:t>
            </a:r>
            <a:r>
              <a:rPr lang="ru-RU" altLang="lt-LT" dirty="0">
                <a:solidFill>
                  <a:schemeClr val="accent1">
                    <a:lumMod val="75000"/>
                  </a:schemeClr>
                </a:solidFill>
              </a:rPr>
              <a:t> </a:t>
            </a:r>
            <a:r>
              <a:rPr lang="ru-RU" altLang="lt-LT" dirty="0"/>
              <a:t>(</a:t>
            </a:r>
            <a:r>
              <a:rPr lang="lt-LT" altLang="lt-LT" dirty="0"/>
              <a:t>įskaitant įvairių programavimo metodikų palaikymą</a:t>
            </a:r>
            <a:r>
              <a:rPr lang="ru-RU" altLang="lt-LT" dirty="0"/>
              <a:t>)</a:t>
            </a:r>
          </a:p>
          <a:p>
            <a:pPr marL="609600" indent="-609600">
              <a:buFontTx/>
              <a:buAutoNum type="arabicPeriod"/>
            </a:pPr>
            <a:endParaRPr lang="ru-RU" altLang="lt-LT" sz="1050" dirty="0"/>
          </a:p>
          <a:p>
            <a:pPr marL="609600" indent="-609600">
              <a:buFontTx/>
              <a:buAutoNum type="arabicPeriod"/>
            </a:pPr>
            <a:r>
              <a:rPr lang="lt-LT" altLang="lt-LT" dirty="0"/>
              <a:t>Didelis sprendimų realizacijų</a:t>
            </a:r>
            <a:r>
              <a:rPr lang="ru-RU" altLang="lt-LT" dirty="0"/>
              <a:t> </a:t>
            </a:r>
            <a:r>
              <a:rPr lang="lt-LT" altLang="lt-LT" dirty="0" err="1">
                <a:solidFill>
                  <a:schemeClr val="accent1">
                    <a:lumMod val="75000"/>
                  </a:schemeClr>
                </a:solidFill>
              </a:rPr>
              <a:t>variatyvumas</a:t>
            </a:r>
            <a:r>
              <a:rPr lang="ru-RU" altLang="lt-LT" dirty="0">
                <a:solidFill>
                  <a:schemeClr val="accent1">
                    <a:lumMod val="75000"/>
                  </a:schemeClr>
                </a:solidFill>
              </a:rPr>
              <a:t> </a:t>
            </a:r>
            <a:r>
              <a:rPr lang="ru-RU" altLang="lt-LT" dirty="0"/>
              <a:t>(</a:t>
            </a:r>
            <a:r>
              <a:rPr lang="lt-LT" altLang="lt-LT" dirty="0"/>
              <a:t>WS, </a:t>
            </a:r>
            <a:r>
              <a:rPr lang="lt-LT" altLang="lt-LT" dirty="0" err="1"/>
              <a:t>plugins</a:t>
            </a:r>
            <a:r>
              <a:rPr lang="ru-RU" altLang="lt-LT" dirty="0"/>
              <a:t>)</a:t>
            </a:r>
          </a:p>
          <a:p>
            <a:endParaRPr lang="lt-LT" dirty="0"/>
          </a:p>
        </p:txBody>
      </p:sp>
    </p:spTree>
    <p:extLst>
      <p:ext uri="{BB962C8B-B14F-4D97-AF65-F5344CB8AC3E}">
        <p14:creationId xmlns:p14="http://schemas.microsoft.com/office/powerpoint/2010/main" val="196519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lt-LT" b="1" dirty="0"/>
              <a:t>.NET</a:t>
            </a:r>
            <a:r>
              <a:rPr lang="ru-RU" altLang="lt-LT" b="1" dirty="0"/>
              <a:t> </a:t>
            </a:r>
            <a:r>
              <a:rPr lang="lt-LT" altLang="lt-LT" dirty="0"/>
              <a:t>kaip gyvenimo ciklo </a:t>
            </a:r>
            <a:r>
              <a:rPr lang="lt-LT" altLang="lt-LT" dirty="0" smtClean="0"/>
              <a:t>modelis</a:t>
            </a:r>
            <a:br>
              <a:rPr lang="lt-LT" altLang="lt-LT" dirty="0" smtClean="0"/>
            </a:br>
            <a:r>
              <a:rPr lang="lt-LT" altLang="lt-LT" i="1" dirty="0" err="1" smtClean="0"/>
              <a:t>WebServices</a:t>
            </a:r>
            <a:endParaRPr lang="lt-LT" i="1" dirty="0"/>
          </a:p>
        </p:txBody>
      </p:sp>
      <p:sp>
        <p:nvSpPr>
          <p:cNvPr id="3" name="Content Placeholder 2"/>
          <p:cNvSpPr>
            <a:spLocks noGrp="1"/>
          </p:cNvSpPr>
          <p:nvPr>
            <p:ph idx="1"/>
          </p:nvPr>
        </p:nvSpPr>
        <p:spPr/>
        <p:txBody>
          <a:bodyPr/>
          <a:lstStyle/>
          <a:p>
            <a:pPr marL="533400" indent="-533400">
              <a:buFontTx/>
              <a:buAutoNum type="arabicPeriod"/>
            </a:pPr>
            <a:r>
              <a:rPr lang="lt-LT" altLang="lt-LT" dirty="0"/>
              <a:t>Programuojami komponentai</a:t>
            </a:r>
            <a:r>
              <a:rPr lang="en-US" altLang="lt-LT" dirty="0"/>
              <a:t>,</a:t>
            </a:r>
            <a:r>
              <a:rPr lang="ru-RU" altLang="lt-LT" dirty="0"/>
              <a:t> </a:t>
            </a:r>
            <a:r>
              <a:rPr lang="lt-LT" altLang="lt-LT" dirty="0"/>
              <a:t>su prieiga naudojant standartinius Internet protokolus</a:t>
            </a:r>
            <a:endParaRPr lang="en-US" altLang="lt-LT" dirty="0"/>
          </a:p>
          <a:p>
            <a:pPr marL="533400" indent="-533400">
              <a:buFontTx/>
              <a:buAutoNum type="arabicPeriod"/>
            </a:pPr>
            <a:r>
              <a:rPr lang="lt-LT" altLang="lt-LT" dirty="0" smtClean="0"/>
              <a:t>Centrinė </a:t>
            </a:r>
            <a:r>
              <a:rPr lang="en-US" altLang="lt-LT" dirty="0"/>
              <a:t>.NET</a:t>
            </a:r>
            <a:r>
              <a:rPr lang="lt-LT" altLang="lt-LT" dirty="0"/>
              <a:t> architektūros dalis</a:t>
            </a:r>
            <a:endParaRPr lang="en-US" altLang="lt-LT" dirty="0"/>
          </a:p>
          <a:p>
            <a:pPr marL="533400" indent="-533400">
              <a:buFontTx/>
              <a:buAutoNum type="arabicPeriod"/>
            </a:pPr>
            <a:r>
              <a:rPr lang="lt-LT" altLang="lt-LT" dirty="0" smtClean="0"/>
              <a:t>Paskirsto  </a:t>
            </a:r>
            <a:r>
              <a:rPr lang="lt-LT" altLang="lt-LT" dirty="0"/>
              <a:t>funkcionalumą interneto mastu</a:t>
            </a:r>
            <a:endParaRPr lang="en-US" altLang="lt-LT" dirty="0"/>
          </a:p>
          <a:p>
            <a:pPr marL="533400" indent="-533400">
              <a:buFontTx/>
              <a:buAutoNum type="arabicPeriod"/>
            </a:pPr>
            <a:r>
              <a:rPr lang="lt-LT" altLang="lt-LT" dirty="0" smtClean="0"/>
              <a:t>Remiasi </a:t>
            </a:r>
            <a:r>
              <a:rPr lang="lt-LT" altLang="lt-LT" dirty="0"/>
              <a:t>egzistuojančiais ir besivystančiais standartais:</a:t>
            </a:r>
            <a:r>
              <a:rPr lang="ru-RU" altLang="lt-LT" dirty="0"/>
              <a:t> </a:t>
            </a:r>
            <a:r>
              <a:rPr lang="en-US" altLang="lt-LT" dirty="0"/>
              <a:t>HTTP, XML, SOAP</a:t>
            </a:r>
            <a:r>
              <a:rPr lang="en-US" altLang="lt-LT" dirty="0" smtClean="0"/>
              <a:t>, </a:t>
            </a:r>
            <a:r>
              <a:rPr lang="en-US" altLang="lt-LT" dirty="0"/>
              <a:t>WSDL</a:t>
            </a:r>
            <a:r>
              <a:rPr lang="lt-LT" altLang="lt-LT" dirty="0"/>
              <a:t>, etc...</a:t>
            </a:r>
            <a:endParaRPr lang="en-US" altLang="lt-LT" dirty="0"/>
          </a:p>
          <a:p>
            <a:endParaRPr lang="lt-LT" dirty="0"/>
          </a:p>
        </p:txBody>
      </p:sp>
    </p:spTree>
    <p:extLst>
      <p:ext uri="{BB962C8B-B14F-4D97-AF65-F5344CB8AC3E}">
        <p14:creationId xmlns:p14="http://schemas.microsoft.com/office/powerpoint/2010/main" val="3373602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lt-LT" b="1" dirty="0"/>
              <a:t>.NET</a:t>
            </a:r>
            <a:r>
              <a:rPr lang="ru-RU" altLang="lt-LT" b="1" dirty="0"/>
              <a:t> </a:t>
            </a:r>
            <a:r>
              <a:rPr lang="lt-LT" altLang="lt-LT" dirty="0"/>
              <a:t>kaip technologinė platforma</a:t>
            </a:r>
            <a:r>
              <a:rPr lang="ru-RU" altLang="lt-LT" b="1" dirty="0"/>
              <a:t/>
            </a:r>
            <a:br>
              <a:rPr lang="ru-RU" altLang="lt-LT" b="1" dirty="0"/>
            </a:br>
            <a:endParaRPr lang="lt-LT" dirty="0"/>
          </a:p>
        </p:txBody>
      </p:sp>
      <p:sp>
        <p:nvSpPr>
          <p:cNvPr id="3" name="Content Placeholder 2"/>
          <p:cNvSpPr>
            <a:spLocks noGrp="1"/>
          </p:cNvSpPr>
          <p:nvPr>
            <p:ph idx="1"/>
          </p:nvPr>
        </p:nvSpPr>
        <p:spPr/>
        <p:txBody>
          <a:bodyPr>
            <a:normAutofit/>
          </a:bodyPr>
          <a:lstStyle/>
          <a:p>
            <a:pPr marL="609600" indent="-609600">
              <a:buFontTx/>
              <a:buAutoNum type="arabicPeriod"/>
            </a:pPr>
            <a:r>
              <a:rPr lang="lt-LT" altLang="lt-LT" dirty="0">
                <a:solidFill>
                  <a:schemeClr val="accent1">
                    <a:lumMod val="75000"/>
                  </a:schemeClr>
                </a:solidFill>
              </a:rPr>
              <a:t>Daugelio</a:t>
            </a:r>
            <a:r>
              <a:rPr lang="ru-RU" altLang="lt-LT" dirty="0">
                <a:solidFill>
                  <a:schemeClr val="accent1">
                    <a:lumMod val="75000"/>
                  </a:schemeClr>
                </a:solidFill>
              </a:rPr>
              <a:t> </a:t>
            </a:r>
            <a:r>
              <a:rPr lang="lt-LT" altLang="lt-LT" dirty="0"/>
              <a:t>programavimo kalbų palaikymas</a:t>
            </a:r>
            <a:r>
              <a:rPr lang="ru-RU" altLang="lt-LT" dirty="0"/>
              <a:t> (</a:t>
            </a:r>
            <a:r>
              <a:rPr lang="lt-LT" altLang="lt-LT" dirty="0"/>
              <a:t>C#, JS, VB, ...</a:t>
            </a:r>
            <a:r>
              <a:rPr lang="ru-RU" altLang="lt-LT" dirty="0"/>
              <a:t>)</a:t>
            </a:r>
          </a:p>
          <a:p>
            <a:pPr marL="609600" indent="-609600">
              <a:buFontTx/>
              <a:buAutoNum type="arabicPeriod"/>
            </a:pPr>
            <a:endParaRPr lang="ru-RU" altLang="lt-LT" sz="1050" dirty="0"/>
          </a:p>
          <a:p>
            <a:pPr marL="609600" indent="-609600">
              <a:buFontTx/>
              <a:buAutoNum type="arabicPeriod"/>
            </a:pPr>
            <a:r>
              <a:rPr lang="lt-LT" altLang="lt-LT" dirty="0" err="1"/>
              <a:t>WebService</a:t>
            </a:r>
            <a:r>
              <a:rPr lang="lt-LT" altLang="lt-LT" dirty="0"/>
              <a:t> technologijos naudojimas </a:t>
            </a:r>
            <a:r>
              <a:rPr lang="lt-LT" altLang="lt-LT" dirty="0" err="1">
                <a:solidFill>
                  <a:schemeClr val="accent1">
                    <a:lumMod val="75000"/>
                  </a:schemeClr>
                </a:solidFill>
              </a:rPr>
              <a:t>interoperability</a:t>
            </a:r>
            <a:r>
              <a:rPr lang="ru-RU" altLang="lt-LT" dirty="0">
                <a:solidFill>
                  <a:schemeClr val="accent1">
                    <a:lumMod val="75000"/>
                  </a:schemeClr>
                </a:solidFill>
              </a:rPr>
              <a:t> </a:t>
            </a:r>
            <a:r>
              <a:rPr lang="ru-RU" altLang="lt-LT" dirty="0"/>
              <a:t>и </a:t>
            </a:r>
            <a:r>
              <a:rPr lang="lt-LT" altLang="lt-LT" dirty="0">
                <a:solidFill>
                  <a:schemeClr val="accent1">
                    <a:lumMod val="75000"/>
                  </a:schemeClr>
                </a:solidFill>
              </a:rPr>
              <a:t>plečiamumo (</a:t>
            </a:r>
            <a:r>
              <a:rPr lang="lt-LT" altLang="lt-LT" dirty="0" err="1">
                <a:solidFill>
                  <a:schemeClr val="accent1">
                    <a:lumMod val="75000"/>
                  </a:schemeClr>
                </a:solidFill>
              </a:rPr>
              <a:t>scalability</a:t>
            </a:r>
            <a:r>
              <a:rPr lang="lt-LT" altLang="lt-LT" dirty="0">
                <a:solidFill>
                  <a:schemeClr val="accent1">
                    <a:lumMod val="75000"/>
                  </a:schemeClr>
                </a:solidFill>
              </a:rPr>
              <a:t>)</a:t>
            </a:r>
            <a:r>
              <a:rPr lang="ru-RU" altLang="lt-LT" dirty="0"/>
              <a:t> </a:t>
            </a:r>
            <a:r>
              <a:rPr lang="lt-LT" altLang="lt-LT" dirty="0"/>
              <a:t>užtikrinimui interneto aplinkoje</a:t>
            </a:r>
            <a:r>
              <a:rPr lang="ru-RU" altLang="lt-LT" dirty="0"/>
              <a:t> </a:t>
            </a:r>
            <a:endParaRPr lang="ru-RU" altLang="lt-LT" sz="1050" dirty="0"/>
          </a:p>
          <a:p>
            <a:pPr marL="609600" indent="-609600">
              <a:buFontTx/>
              <a:buAutoNum type="arabicPeriod"/>
            </a:pPr>
            <a:r>
              <a:rPr lang="lt-LT" altLang="lt-LT" dirty="0" smtClean="0"/>
              <a:t>Priėjimo </a:t>
            </a:r>
            <a:r>
              <a:rPr lang="lt-LT" altLang="lt-LT" dirty="0"/>
              <a:t>prie API-</a:t>
            </a:r>
            <a:r>
              <a:rPr lang="lt-LT" altLang="lt-LT" dirty="0" err="1"/>
              <a:t>interfeisų</a:t>
            </a:r>
            <a:r>
              <a:rPr lang="lt-LT" altLang="lt-LT" dirty="0"/>
              <a:t> bibliotekų </a:t>
            </a:r>
            <a:r>
              <a:rPr lang="lt-LT" altLang="lt-LT" dirty="0">
                <a:solidFill>
                  <a:schemeClr val="accent1">
                    <a:lumMod val="75000"/>
                  </a:schemeClr>
                </a:solidFill>
              </a:rPr>
              <a:t>unifikacija </a:t>
            </a:r>
            <a:r>
              <a:rPr lang="lt-LT" altLang="lt-LT" dirty="0"/>
              <a:t>nepriklausomai nuo programavimo kalbos ir programavimo modelio</a:t>
            </a:r>
            <a:endParaRPr lang="ru-RU" altLang="lt-LT" sz="1050" dirty="0"/>
          </a:p>
          <a:p>
            <a:pPr marL="609600" indent="-609600">
              <a:buFontTx/>
              <a:buAutoNum type="arabicPeriod"/>
            </a:pPr>
            <a:r>
              <a:rPr lang="lt-LT" altLang="lt-LT" dirty="0"/>
              <a:t>Atitikimas šiuolaikiniams technologiniams </a:t>
            </a:r>
            <a:r>
              <a:rPr lang="lt-LT" altLang="lt-LT" dirty="0">
                <a:solidFill>
                  <a:schemeClr val="accent1">
                    <a:lumMod val="75000"/>
                  </a:schemeClr>
                </a:solidFill>
              </a:rPr>
              <a:t>standartams</a:t>
            </a:r>
            <a:r>
              <a:rPr lang="lt-LT" altLang="lt-LT" dirty="0"/>
              <a:t> (ECMA</a:t>
            </a:r>
            <a:r>
              <a:rPr lang="lt-LT" altLang="lt-LT" dirty="0" smtClean="0"/>
              <a:t>):</a:t>
            </a:r>
          </a:p>
          <a:p>
            <a:pPr lvl="2"/>
            <a:r>
              <a:rPr lang="lt-LT" sz="1800" dirty="0"/>
              <a:t>ECMA-334 – C# </a:t>
            </a:r>
            <a:r>
              <a:rPr lang="lt-LT" sz="1800" dirty="0" err="1"/>
              <a:t>Language</a:t>
            </a:r>
            <a:r>
              <a:rPr lang="lt-LT" sz="1800" dirty="0"/>
              <a:t> </a:t>
            </a:r>
            <a:r>
              <a:rPr lang="lt-LT" sz="1800" dirty="0" err="1"/>
              <a:t>Specification</a:t>
            </a:r>
            <a:endParaRPr lang="lt-LT" sz="1800" dirty="0"/>
          </a:p>
          <a:p>
            <a:pPr lvl="2"/>
            <a:r>
              <a:rPr lang="lt-LT" sz="1800" dirty="0"/>
              <a:t>ECMA-372 – C++/CLI </a:t>
            </a:r>
            <a:r>
              <a:rPr lang="lt-LT" sz="1800" dirty="0" err="1"/>
              <a:t>Language</a:t>
            </a:r>
            <a:r>
              <a:rPr lang="lt-LT" sz="1800" dirty="0"/>
              <a:t> </a:t>
            </a:r>
            <a:r>
              <a:rPr lang="lt-LT" sz="1800" dirty="0" err="1"/>
              <a:t>Specification</a:t>
            </a:r>
            <a:endParaRPr lang="lt-LT" sz="1800" dirty="0"/>
          </a:p>
          <a:p>
            <a:pPr lvl="2"/>
            <a:r>
              <a:rPr lang="lt-LT" sz="1800" dirty="0"/>
              <a:t>ECMA-404 – </a:t>
            </a:r>
            <a:r>
              <a:rPr lang="lt-LT" sz="1800" dirty="0" smtClean="0"/>
              <a:t>JSON ...</a:t>
            </a:r>
            <a:endParaRPr lang="lt-LT" sz="1800" dirty="0"/>
          </a:p>
          <a:p>
            <a:pPr marL="1066800" lvl="1" indent="-609600">
              <a:buFontTx/>
              <a:buAutoNum type="arabicPeriod"/>
            </a:pPr>
            <a:endParaRPr lang="ru-RU" altLang="lt-LT" dirty="0"/>
          </a:p>
        </p:txBody>
      </p:sp>
    </p:spTree>
    <p:extLst>
      <p:ext uri="{BB962C8B-B14F-4D97-AF65-F5344CB8AC3E}">
        <p14:creationId xmlns:p14="http://schemas.microsoft.com/office/powerpoint/2010/main" val="1681515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12192" cy="1325563"/>
          </a:xfrm>
        </p:spPr>
        <p:txBody>
          <a:bodyPr>
            <a:normAutofit/>
          </a:bodyPr>
          <a:lstStyle/>
          <a:p>
            <a:r>
              <a:rPr lang="en-US" altLang="lt-LT" b="1" dirty="0"/>
              <a:t>.NET</a:t>
            </a:r>
            <a:r>
              <a:rPr lang="ru-RU" altLang="lt-LT" b="1" dirty="0"/>
              <a:t> </a:t>
            </a:r>
            <a:r>
              <a:rPr lang="lt-LT" altLang="lt-LT" dirty="0"/>
              <a:t>kaip universalus kūrimo </a:t>
            </a:r>
            <a:r>
              <a:rPr lang="lt-LT" altLang="lt-LT" dirty="0" smtClean="0"/>
              <a:t>instrumentas</a:t>
            </a:r>
            <a:endParaRPr lang="lt-LT" dirty="0"/>
          </a:p>
        </p:txBody>
      </p:sp>
      <p:sp>
        <p:nvSpPr>
          <p:cNvPr id="3" name="Content Placeholder 2"/>
          <p:cNvSpPr>
            <a:spLocks noGrp="1"/>
          </p:cNvSpPr>
          <p:nvPr>
            <p:ph idx="1"/>
          </p:nvPr>
        </p:nvSpPr>
        <p:spPr/>
        <p:txBody>
          <a:bodyPr/>
          <a:lstStyle/>
          <a:p>
            <a:pPr marL="609600" indent="-609600">
              <a:buFontTx/>
              <a:buAutoNum type="arabicPeriod"/>
            </a:pPr>
            <a:r>
              <a:rPr lang="lt-LT" altLang="lt-LT" dirty="0">
                <a:solidFill>
                  <a:schemeClr val="accent1">
                    <a:lumMod val="75000"/>
                  </a:schemeClr>
                </a:solidFill>
              </a:rPr>
              <a:t>Daugiakalbės</a:t>
            </a:r>
            <a:r>
              <a:rPr lang="lt-LT" altLang="lt-LT" dirty="0"/>
              <a:t> aplinkos palaikymas</a:t>
            </a:r>
            <a:r>
              <a:rPr lang="ru-RU" altLang="lt-LT" dirty="0"/>
              <a:t> </a:t>
            </a:r>
            <a:r>
              <a:rPr lang="en-US" altLang="lt-LT" dirty="0"/>
              <a:t>CLR (Common Language Runtime)</a:t>
            </a:r>
            <a:endParaRPr lang="ru-RU" altLang="lt-LT" sz="1050" dirty="0"/>
          </a:p>
          <a:p>
            <a:pPr marL="609600" indent="-609600">
              <a:buFontTx/>
              <a:buAutoNum type="arabicPeriod"/>
            </a:pPr>
            <a:r>
              <a:rPr lang="lt-LT" altLang="lt-LT" dirty="0"/>
              <a:t>Galimybė kurti projekto komponentus vienoje aplinkoje </a:t>
            </a:r>
            <a:r>
              <a:rPr lang="lt-LT" altLang="lt-LT" dirty="0">
                <a:solidFill>
                  <a:schemeClr val="accent1">
                    <a:lumMod val="75000"/>
                  </a:schemeClr>
                </a:solidFill>
              </a:rPr>
              <a:t>labiausiai tinkama</a:t>
            </a:r>
            <a:r>
              <a:rPr lang="lt-LT" altLang="lt-LT" dirty="0"/>
              <a:t> tam programavimo kalba</a:t>
            </a:r>
            <a:endParaRPr lang="ru-RU" altLang="lt-LT" dirty="0"/>
          </a:p>
          <a:p>
            <a:pPr marL="609600" indent="-609600">
              <a:buFontTx/>
              <a:buAutoNum type="arabicPeriod"/>
            </a:pPr>
            <a:r>
              <a:rPr lang="lt-LT" altLang="lt-LT" dirty="0"/>
              <a:t>Visų </a:t>
            </a:r>
            <a:r>
              <a:rPr lang="ru-RU" altLang="lt-LT" dirty="0"/>
              <a:t>.</a:t>
            </a:r>
            <a:r>
              <a:rPr lang="en-US" altLang="lt-LT" dirty="0"/>
              <a:t>NET </a:t>
            </a:r>
            <a:r>
              <a:rPr lang="lt-LT" altLang="lt-LT" dirty="0"/>
              <a:t>galimybių </a:t>
            </a:r>
            <a:r>
              <a:rPr lang="lt-LT" altLang="lt-LT" dirty="0">
                <a:solidFill>
                  <a:schemeClr val="accent1">
                    <a:lumMod val="75000"/>
                  </a:schemeClr>
                </a:solidFill>
              </a:rPr>
              <a:t>prieinamumas </a:t>
            </a:r>
            <a:r>
              <a:rPr lang="lt-LT" altLang="lt-LT" dirty="0"/>
              <a:t>kiekvienai programavimo kalbai.</a:t>
            </a:r>
            <a:endParaRPr lang="ru-RU" altLang="lt-LT" dirty="0"/>
          </a:p>
          <a:p>
            <a:pPr marL="609600" indent="-609600">
              <a:buFontTx/>
              <a:buAutoNum type="arabicPeriod"/>
            </a:pPr>
            <a:r>
              <a:rPr lang="lt-LT" altLang="lt-LT" dirty="0" err="1" smtClean="0"/>
              <a:t>Servisinės</a:t>
            </a:r>
            <a:r>
              <a:rPr lang="lt-LT" altLang="lt-LT" dirty="0" smtClean="0"/>
              <a:t> </a:t>
            </a:r>
            <a:r>
              <a:rPr lang="lt-LT" altLang="lt-LT" dirty="0"/>
              <a:t>aplinkos galimybės </a:t>
            </a:r>
            <a:r>
              <a:rPr lang="lt-LT" altLang="lt-LT" dirty="0" smtClean="0"/>
              <a:t>kūrėjui </a:t>
            </a:r>
            <a:r>
              <a:rPr lang="ru-RU" altLang="lt-LT" dirty="0" smtClean="0"/>
              <a:t>(</a:t>
            </a:r>
            <a:r>
              <a:rPr lang="lt-LT" altLang="lt-LT" sz="2400" dirty="0" err="1"/>
              <a:t>debug</a:t>
            </a:r>
            <a:r>
              <a:rPr lang="ru-RU" altLang="lt-LT" sz="2400" dirty="0"/>
              <a:t>, </a:t>
            </a:r>
            <a:r>
              <a:rPr lang="lt-LT" altLang="lt-LT" sz="2400" dirty="0" err="1"/>
              <a:t>code</a:t>
            </a:r>
            <a:r>
              <a:rPr lang="lt-LT" altLang="lt-LT" sz="2400" dirty="0"/>
              <a:t> </a:t>
            </a:r>
            <a:r>
              <a:rPr lang="lt-LT" altLang="lt-LT" sz="2400" dirty="0" err="1"/>
              <a:t>analysis</a:t>
            </a:r>
            <a:r>
              <a:rPr lang="ru-RU" altLang="lt-LT" sz="2400" dirty="0"/>
              <a:t>, …</a:t>
            </a:r>
            <a:r>
              <a:rPr lang="ru-RU" altLang="lt-LT" dirty="0"/>
              <a:t>) </a:t>
            </a:r>
            <a:r>
              <a:rPr lang="lt-LT" altLang="lt-LT" dirty="0"/>
              <a:t>yra </a:t>
            </a:r>
            <a:r>
              <a:rPr lang="lt-LT" altLang="lt-LT" dirty="0" smtClean="0"/>
              <a:t>nepriklausomai </a:t>
            </a:r>
            <a:r>
              <a:rPr lang="lt-LT" altLang="lt-LT" dirty="0"/>
              <a:t>nuo programavimo kalbos.</a:t>
            </a:r>
            <a:endParaRPr lang="ru-RU" altLang="lt-LT" dirty="0"/>
          </a:p>
          <a:p>
            <a:endParaRPr lang="lt-LT" dirty="0"/>
          </a:p>
        </p:txBody>
      </p:sp>
    </p:spTree>
    <p:extLst>
      <p:ext uri="{BB962C8B-B14F-4D97-AF65-F5344CB8AC3E}">
        <p14:creationId xmlns:p14="http://schemas.microsoft.com/office/powerpoint/2010/main" val="1651925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smtClean="0"/>
              <a:t>.NET architektūra</a:t>
            </a:r>
            <a:endParaRPr lang="lt-LT" dirty="0"/>
          </a:p>
        </p:txBody>
      </p:sp>
      <p:sp>
        <p:nvSpPr>
          <p:cNvPr id="16" name="Rectangle 2051"/>
          <p:cNvSpPr>
            <a:spLocks noChangeArrowheads="1"/>
          </p:cNvSpPr>
          <p:nvPr/>
        </p:nvSpPr>
        <p:spPr bwMode="auto">
          <a:xfrm>
            <a:off x="2865120" y="4594070"/>
            <a:ext cx="4450080" cy="426720"/>
          </a:xfrm>
          <a:prstGeom prst="rect">
            <a:avLst/>
          </a:prstGeom>
          <a:gradFill rotWithShape="0">
            <a:gsLst>
              <a:gs pos="0">
                <a:schemeClr val="accent2">
                  <a:gamma/>
                  <a:shade val="46275"/>
                  <a:invGamma/>
                </a:schemeClr>
              </a:gs>
              <a:gs pos="100000">
                <a:schemeClr val="accent2"/>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contourClr>
              <a:schemeClr val="accent2"/>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Base Class Library</a:t>
            </a:r>
          </a:p>
        </p:txBody>
      </p:sp>
      <p:sp>
        <p:nvSpPr>
          <p:cNvPr id="17" name="Rectangle 2052"/>
          <p:cNvSpPr>
            <a:spLocks noChangeArrowheads="1"/>
          </p:cNvSpPr>
          <p:nvPr/>
        </p:nvSpPr>
        <p:spPr bwMode="auto">
          <a:xfrm>
            <a:off x="2865120" y="2487140"/>
            <a:ext cx="4450080" cy="487680"/>
          </a:xfrm>
          <a:prstGeom prst="rect">
            <a:avLst/>
          </a:prstGeom>
          <a:gradFill rotWithShape="0">
            <a:gsLst>
              <a:gs pos="0">
                <a:schemeClr val="folHlink">
                  <a:gamma/>
                  <a:shade val="46275"/>
                  <a:invGamma/>
                </a:schemeClr>
              </a:gs>
              <a:gs pos="100000">
                <a:schemeClr val="fo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folHlink"/>
            </a:extrusionClr>
            <a:contourClr>
              <a:schemeClr val="fo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Common Language Specification</a:t>
            </a:r>
          </a:p>
        </p:txBody>
      </p:sp>
      <p:sp>
        <p:nvSpPr>
          <p:cNvPr id="18" name="Rectangle 2053"/>
          <p:cNvSpPr>
            <a:spLocks noChangeArrowheads="1"/>
          </p:cNvSpPr>
          <p:nvPr/>
        </p:nvSpPr>
        <p:spPr bwMode="auto">
          <a:xfrm>
            <a:off x="2871092" y="5215100"/>
            <a:ext cx="4450080" cy="548640"/>
          </a:xfrm>
          <a:prstGeom prst="rect">
            <a:avLst/>
          </a:prstGeom>
          <a:gradFill rotWithShape="0">
            <a:gsLst>
              <a:gs pos="0">
                <a:schemeClr val="hlink">
                  <a:gamma/>
                  <a:shade val="46275"/>
                  <a:invGamma/>
                </a:schemeClr>
              </a:gs>
              <a:gs pos="100000">
                <a:schemeClr va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hlink"/>
            </a:extrusionClr>
            <a:contourClr>
              <a:schemeClr va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Common Language Runtime</a:t>
            </a:r>
          </a:p>
        </p:txBody>
      </p:sp>
      <p:sp>
        <p:nvSpPr>
          <p:cNvPr id="19" name="Rectangle 2054"/>
          <p:cNvSpPr>
            <a:spLocks noChangeArrowheads="1"/>
          </p:cNvSpPr>
          <p:nvPr/>
        </p:nvSpPr>
        <p:spPr bwMode="auto">
          <a:xfrm>
            <a:off x="2865120" y="3973040"/>
            <a:ext cx="4450080" cy="426720"/>
          </a:xfrm>
          <a:prstGeom prst="rect">
            <a:avLst/>
          </a:prstGeom>
          <a:gradFill rotWithShape="0">
            <a:gsLst>
              <a:gs pos="0">
                <a:schemeClr val="accent2">
                  <a:gamma/>
                  <a:shade val="46275"/>
                  <a:invGamma/>
                </a:schemeClr>
              </a:gs>
              <a:gs pos="100000">
                <a:schemeClr val="accent2"/>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contourClr>
              <a:schemeClr val="accent2"/>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ADO.NET:  Data and XML</a:t>
            </a:r>
          </a:p>
        </p:txBody>
      </p:sp>
      <p:sp>
        <p:nvSpPr>
          <p:cNvPr id="20" name="Rectangle 2055"/>
          <p:cNvSpPr>
            <a:spLocks noChangeArrowheads="1"/>
          </p:cNvSpPr>
          <p:nvPr/>
        </p:nvSpPr>
        <p:spPr bwMode="auto">
          <a:xfrm>
            <a:off x="2865120" y="1805150"/>
            <a:ext cx="731520" cy="487680"/>
          </a:xfrm>
          <a:prstGeom prst="rect">
            <a:avLst/>
          </a:prstGeom>
          <a:gradFill rotWithShape="0">
            <a:gsLst>
              <a:gs pos="0">
                <a:schemeClr val="folHlink">
                  <a:gamma/>
                  <a:shade val="46275"/>
                  <a:invGamma/>
                </a:schemeClr>
              </a:gs>
              <a:gs pos="100000">
                <a:schemeClr val="fo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folHlink"/>
            </a:extrusionClr>
            <a:contourClr>
              <a:schemeClr val="fo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dirty="0">
                <a:solidFill>
                  <a:schemeClr val="bg1"/>
                </a:solidFill>
                <a:effectLst>
                  <a:outerShdw blurRad="38100" dist="38100" dir="2700000" algn="tl">
                    <a:srgbClr val="000000"/>
                  </a:outerShdw>
                </a:effectLst>
              </a:rPr>
              <a:t>VB</a:t>
            </a:r>
          </a:p>
        </p:txBody>
      </p:sp>
      <p:sp>
        <p:nvSpPr>
          <p:cNvPr id="21" name="Rectangle 2056"/>
          <p:cNvSpPr>
            <a:spLocks noChangeArrowheads="1"/>
          </p:cNvSpPr>
          <p:nvPr/>
        </p:nvSpPr>
        <p:spPr bwMode="auto">
          <a:xfrm>
            <a:off x="3719685" y="1805150"/>
            <a:ext cx="731520" cy="487680"/>
          </a:xfrm>
          <a:prstGeom prst="rect">
            <a:avLst/>
          </a:prstGeom>
          <a:gradFill rotWithShape="0">
            <a:gsLst>
              <a:gs pos="0">
                <a:schemeClr val="folHlink">
                  <a:gamma/>
                  <a:shade val="46275"/>
                  <a:invGamma/>
                </a:schemeClr>
              </a:gs>
              <a:gs pos="100000">
                <a:schemeClr val="fo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folHlink"/>
            </a:extrusionClr>
            <a:contourClr>
              <a:schemeClr val="fo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C++</a:t>
            </a:r>
          </a:p>
        </p:txBody>
      </p:sp>
      <p:sp>
        <p:nvSpPr>
          <p:cNvPr id="22" name="Rectangle 2057"/>
          <p:cNvSpPr>
            <a:spLocks noChangeArrowheads="1"/>
          </p:cNvSpPr>
          <p:nvPr/>
        </p:nvSpPr>
        <p:spPr bwMode="auto">
          <a:xfrm>
            <a:off x="4574250" y="1805150"/>
            <a:ext cx="731520" cy="487680"/>
          </a:xfrm>
          <a:prstGeom prst="rect">
            <a:avLst/>
          </a:prstGeom>
          <a:gradFill rotWithShape="0">
            <a:gsLst>
              <a:gs pos="0">
                <a:schemeClr val="folHlink">
                  <a:gamma/>
                  <a:shade val="46275"/>
                  <a:invGamma/>
                </a:schemeClr>
              </a:gs>
              <a:gs pos="100000">
                <a:schemeClr val="fo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folHlink"/>
            </a:extrusionClr>
            <a:contourClr>
              <a:schemeClr val="fo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C#</a:t>
            </a:r>
          </a:p>
        </p:txBody>
      </p:sp>
      <p:sp>
        <p:nvSpPr>
          <p:cNvPr id="23" name="Rectangle 2058"/>
          <p:cNvSpPr>
            <a:spLocks noChangeArrowheads="1"/>
          </p:cNvSpPr>
          <p:nvPr/>
        </p:nvSpPr>
        <p:spPr bwMode="auto">
          <a:xfrm>
            <a:off x="7589520" y="1805150"/>
            <a:ext cx="928255" cy="3962400"/>
          </a:xfrm>
          <a:prstGeom prst="rect">
            <a:avLst/>
          </a:prstGeom>
          <a:gradFill rotWithShape="0">
            <a:gsLst>
              <a:gs pos="0">
                <a:schemeClr val="accent1">
                  <a:gamma/>
                  <a:shade val="46275"/>
                  <a:invGamma/>
                </a:schemeClr>
              </a:gs>
              <a:gs pos="100000">
                <a:schemeClr val="accent1"/>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1"/>
            </a:extrusionClr>
            <a:contourClr>
              <a:schemeClr val="accent1"/>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flatTx/>
          </a:bodyPr>
          <a:lstStyle/>
          <a:p>
            <a:pPr algn="ctr">
              <a:defRPr/>
            </a:pPr>
            <a:r>
              <a:rPr lang="en-US" altLang="en-US" sz="2000" b="1">
                <a:solidFill>
                  <a:schemeClr val="bg1"/>
                </a:solidFill>
                <a:effectLst>
                  <a:outerShdw blurRad="38100" dist="38100" dir="2700000" algn="tl">
                    <a:srgbClr val="000000"/>
                  </a:outerShdw>
                </a:effectLst>
              </a:rPr>
              <a:t>Visual Studio.NET</a:t>
            </a:r>
          </a:p>
        </p:txBody>
      </p:sp>
      <p:sp>
        <p:nvSpPr>
          <p:cNvPr id="24" name="Rectangle 2059"/>
          <p:cNvSpPr>
            <a:spLocks noChangeArrowheads="1"/>
          </p:cNvSpPr>
          <p:nvPr/>
        </p:nvSpPr>
        <p:spPr bwMode="auto">
          <a:xfrm>
            <a:off x="2865120" y="3169130"/>
            <a:ext cx="2926080" cy="609600"/>
          </a:xfrm>
          <a:prstGeom prst="rect">
            <a:avLst/>
          </a:prstGeom>
          <a:gradFill rotWithShape="0">
            <a:gsLst>
              <a:gs pos="0">
                <a:schemeClr val="accent2">
                  <a:gamma/>
                  <a:shade val="46275"/>
                  <a:invGamma/>
                </a:schemeClr>
              </a:gs>
              <a:gs pos="100000">
                <a:schemeClr val="accent2"/>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contourClr>
              <a:schemeClr val="accent2"/>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dirty="0">
                <a:solidFill>
                  <a:schemeClr val="bg1"/>
                </a:solidFill>
                <a:effectLst>
                  <a:outerShdw blurRad="38100" dist="38100" dir="2700000" algn="tl">
                    <a:srgbClr val="000000"/>
                  </a:outerShdw>
                </a:effectLst>
              </a:rPr>
              <a:t>ASP.NET:  Web Services</a:t>
            </a:r>
          </a:p>
          <a:p>
            <a:pPr algn="ctr">
              <a:defRPr/>
            </a:pPr>
            <a:r>
              <a:rPr lang="en-US" altLang="en-US" sz="2000" b="1" dirty="0">
                <a:solidFill>
                  <a:schemeClr val="bg1"/>
                </a:solidFill>
                <a:effectLst>
                  <a:outerShdw blurRad="38100" dist="38100" dir="2700000" algn="tl">
                    <a:srgbClr val="000000"/>
                  </a:outerShdw>
                </a:effectLst>
              </a:rPr>
              <a:t>And Web Forms</a:t>
            </a:r>
          </a:p>
        </p:txBody>
      </p:sp>
      <p:sp>
        <p:nvSpPr>
          <p:cNvPr id="25" name="Rectangle 2060"/>
          <p:cNvSpPr>
            <a:spLocks noChangeArrowheads="1"/>
          </p:cNvSpPr>
          <p:nvPr/>
        </p:nvSpPr>
        <p:spPr bwMode="auto">
          <a:xfrm>
            <a:off x="5428815" y="1805150"/>
            <a:ext cx="914400" cy="487680"/>
          </a:xfrm>
          <a:prstGeom prst="rect">
            <a:avLst/>
          </a:prstGeom>
          <a:gradFill rotWithShape="0">
            <a:gsLst>
              <a:gs pos="0">
                <a:schemeClr val="folHlink">
                  <a:gamma/>
                  <a:shade val="46275"/>
                  <a:invGamma/>
                </a:schemeClr>
              </a:gs>
              <a:gs pos="100000">
                <a:schemeClr val="fo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folHlink"/>
            </a:extrusionClr>
            <a:contourClr>
              <a:schemeClr val="fo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JScript</a:t>
            </a:r>
          </a:p>
        </p:txBody>
      </p:sp>
      <p:sp>
        <p:nvSpPr>
          <p:cNvPr id="26" name="Rectangle 2061"/>
          <p:cNvSpPr>
            <a:spLocks noChangeArrowheads="1"/>
          </p:cNvSpPr>
          <p:nvPr/>
        </p:nvSpPr>
        <p:spPr bwMode="auto">
          <a:xfrm>
            <a:off x="6466262" y="1805150"/>
            <a:ext cx="853440" cy="487680"/>
          </a:xfrm>
          <a:prstGeom prst="rect">
            <a:avLst/>
          </a:prstGeom>
          <a:gradFill rotWithShape="0">
            <a:gsLst>
              <a:gs pos="0">
                <a:schemeClr val="folHlink">
                  <a:gamma/>
                  <a:shade val="46275"/>
                  <a:invGamma/>
                </a:schemeClr>
              </a:gs>
              <a:gs pos="100000">
                <a:schemeClr val="folHlink"/>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folHlink"/>
            </a:extrusionClr>
            <a:contourClr>
              <a:schemeClr val="folHlink"/>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a:solidFill>
                  <a:schemeClr val="bg1"/>
                </a:solidFill>
                <a:effectLst>
                  <a:outerShdw blurRad="38100" dist="38100" dir="2700000" algn="tl">
                    <a:srgbClr val="000000"/>
                  </a:outerShdw>
                </a:effectLst>
              </a:rPr>
              <a:t>…</a:t>
            </a:r>
          </a:p>
        </p:txBody>
      </p:sp>
      <p:sp>
        <p:nvSpPr>
          <p:cNvPr id="27" name="Rectangle 2062"/>
          <p:cNvSpPr>
            <a:spLocks noChangeArrowheads="1"/>
          </p:cNvSpPr>
          <p:nvPr/>
        </p:nvSpPr>
        <p:spPr bwMode="auto">
          <a:xfrm>
            <a:off x="5913120" y="3168897"/>
            <a:ext cx="1402080" cy="609600"/>
          </a:xfrm>
          <a:prstGeom prst="rect">
            <a:avLst/>
          </a:prstGeom>
          <a:gradFill rotWithShape="0">
            <a:gsLst>
              <a:gs pos="0">
                <a:schemeClr val="accent2">
                  <a:gamma/>
                  <a:shade val="46275"/>
                  <a:invGamma/>
                </a:schemeClr>
              </a:gs>
              <a:gs pos="100000">
                <a:schemeClr val="accent2"/>
              </a:gs>
            </a:gsLst>
            <a:lin ang="5400000" scaled="1"/>
          </a:gradFill>
          <a:ln w="12700">
            <a:miter lim="800000"/>
            <a:headEnd type="none" w="sm" len="sm"/>
            <a:tailEnd type="none" w="sm" len="sm"/>
          </a:ln>
          <a:effectLst/>
          <a:scene3d>
            <a:camera prst="legacyObliqueTopRight"/>
            <a:lightRig rig="legacyFlat3" dir="b"/>
          </a:scene3d>
          <a:sp3d extrusionH="582600" prstMaterial="legacyMatte">
            <a:bevelT w="13500" h="13500" prst="angle"/>
            <a:bevelB w="13500" h="13500" prst="angle"/>
            <a:extrusionClr>
              <a:schemeClr val="accent2"/>
            </a:extrusionClr>
            <a:contourClr>
              <a:schemeClr val="accent2"/>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pPr algn="ctr">
              <a:defRPr/>
            </a:pPr>
            <a:r>
              <a:rPr lang="en-US" altLang="en-US" sz="2000" b="1" dirty="0">
                <a:solidFill>
                  <a:schemeClr val="bg1"/>
                </a:solidFill>
                <a:effectLst>
                  <a:outerShdw blurRad="38100" dist="38100" dir="2700000" algn="tl">
                    <a:srgbClr val="000000"/>
                  </a:outerShdw>
                </a:effectLst>
              </a:rPr>
              <a:t>Windows</a:t>
            </a:r>
            <a:br>
              <a:rPr lang="en-US" altLang="en-US" sz="2000" b="1" dirty="0">
                <a:solidFill>
                  <a:schemeClr val="bg1"/>
                </a:solidFill>
                <a:effectLst>
                  <a:outerShdw blurRad="38100" dist="38100" dir="2700000" algn="tl">
                    <a:srgbClr val="000000"/>
                  </a:outerShdw>
                </a:effectLst>
              </a:rPr>
            </a:br>
            <a:r>
              <a:rPr lang="en-US" altLang="en-US" sz="2000" b="1" dirty="0">
                <a:solidFill>
                  <a:schemeClr val="bg1"/>
                </a:solidFill>
                <a:effectLst>
                  <a:outerShdw blurRad="38100" dist="38100" dir="2700000" algn="tl">
                    <a:srgbClr val="000000"/>
                  </a:outerShdw>
                </a:effectLst>
              </a:rPr>
              <a:t>forms</a:t>
            </a:r>
          </a:p>
        </p:txBody>
      </p:sp>
    </p:spTree>
    <p:extLst>
      <p:ext uri="{BB962C8B-B14F-4D97-AF65-F5344CB8AC3E}">
        <p14:creationId xmlns:p14="http://schemas.microsoft.com/office/powerpoint/2010/main" val="1055744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ltLang="lt-LT" b="1" dirty="0"/>
              <a:t>CLR: </a:t>
            </a:r>
            <a:r>
              <a:rPr lang="lt-LT" altLang="lt-LT" b="1" dirty="0"/>
              <a:t>Pagrindinės </a:t>
            </a:r>
            <a:r>
              <a:rPr lang="lt-LT" altLang="lt-LT" b="1" dirty="0" smtClean="0"/>
              <a:t>galimybės</a:t>
            </a:r>
            <a:endParaRPr lang="lt-LT" dirty="0"/>
          </a:p>
        </p:txBody>
      </p:sp>
      <p:sp>
        <p:nvSpPr>
          <p:cNvPr id="3" name="Content Placeholder 2"/>
          <p:cNvSpPr>
            <a:spLocks noGrp="1"/>
          </p:cNvSpPr>
          <p:nvPr>
            <p:ph idx="1"/>
          </p:nvPr>
        </p:nvSpPr>
        <p:spPr/>
        <p:txBody>
          <a:bodyPr/>
          <a:lstStyle/>
          <a:p>
            <a:pPr marL="609600" indent="-609600">
              <a:lnSpc>
                <a:spcPct val="80000"/>
              </a:lnSpc>
            </a:pPr>
            <a:r>
              <a:rPr lang="lt-LT" altLang="lt-LT" sz="2400" dirty="0" smtClean="0"/>
              <a:t>Vieningas standartinių </a:t>
            </a:r>
            <a:r>
              <a:rPr lang="lt-LT" altLang="lt-LT" sz="2400" dirty="0"/>
              <a:t>tipų ir naujų tipų kūrimo taisyklių </a:t>
            </a:r>
            <a:r>
              <a:rPr lang="lt-LT" altLang="lt-LT" sz="2400" dirty="0" smtClean="0"/>
              <a:t>palaikymas</a:t>
            </a:r>
            <a:endParaRPr lang="ru-RU" altLang="lt-LT" sz="2400" dirty="0"/>
          </a:p>
          <a:p>
            <a:pPr marL="609600" indent="-609600">
              <a:lnSpc>
                <a:spcPct val="80000"/>
              </a:lnSpc>
            </a:pPr>
            <a:r>
              <a:rPr lang="lt-LT" altLang="lt-LT" sz="2400" dirty="0"/>
              <a:t>Skirtingų kalbų integracija</a:t>
            </a:r>
            <a:r>
              <a:rPr lang="ru-RU" altLang="lt-LT" sz="2400" dirty="0"/>
              <a:t> </a:t>
            </a:r>
          </a:p>
          <a:p>
            <a:pPr marL="1371600" lvl="2" indent="-457200">
              <a:lnSpc>
                <a:spcPct val="80000"/>
              </a:lnSpc>
            </a:pPr>
            <a:r>
              <a:rPr lang="lt-LT" altLang="lt-LT" dirty="0"/>
              <a:t>Įtraukimas į vienos kalbos kodą klasių parašytų kita </a:t>
            </a:r>
            <a:r>
              <a:rPr lang="lt-LT" altLang="lt-LT" dirty="0" smtClean="0"/>
              <a:t>kalba</a:t>
            </a:r>
            <a:endParaRPr lang="ru-RU" altLang="lt-LT" dirty="0"/>
          </a:p>
          <a:p>
            <a:pPr marL="1371600" lvl="2" indent="-457200">
              <a:lnSpc>
                <a:spcPct val="80000"/>
              </a:lnSpc>
            </a:pPr>
            <a:r>
              <a:rPr lang="lt-LT" altLang="lt-LT" dirty="0"/>
              <a:t>Klaidų apdorojimas </a:t>
            </a:r>
            <a:r>
              <a:rPr lang="lt-LT" altLang="lt-LT" dirty="0" smtClean="0"/>
              <a:t>viename modulyje, </a:t>
            </a:r>
            <a:r>
              <a:rPr lang="lt-LT" altLang="lt-LT" dirty="0"/>
              <a:t>kita kalba </a:t>
            </a:r>
            <a:r>
              <a:rPr lang="lt-LT" altLang="lt-LT" dirty="0" smtClean="0"/>
              <a:t>parašytame </a:t>
            </a:r>
            <a:r>
              <a:rPr lang="lt-LT" altLang="lt-LT" dirty="0"/>
              <a:t>kitame </a:t>
            </a:r>
            <a:r>
              <a:rPr lang="lt-LT" altLang="lt-LT" dirty="0" smtClean="0"/>
              <a:t>modulyje</a:t>
            </a:r>
            <a:endParaRPr lang="ru-RU" altLang="lt-LT" dirty="0"/>
          </a:p>
          <a:p>
            <a:pPr marL="1371600" lvl="2" indent="-457200">
              <a:lnSpc>
                <a:spcPct val="80000"/>
              </a:lnSpc>
            </a:pPr>
            <a:r>
              <a:rPr lang="ru-RU" altLang="lt-LT" dirty="0"/>
              <a:t>…. </a:t>
            </a:r>
          </a:p>
          <a:p>
            <a:pPr marL="609600" indent="-609600">
              <a:lnSpc>
                <a:spcPct val="80000"/>
              </a:lnSpc>
            </a:pPr>
            <a:r>
              <a:rPr lang="lt-LT" altLang="lt-LT" sz="2400" dirty="0"/>
              <a:t>Vieningas klasių bibliotekų rinkinys</a:t>
            </a:r>
            <a:r>
              <a:rPr lang="ru-RU" altLang="lt-LT" sz="2400" dirty="0"/>
              <a:t> </a:t>
            </a:r>
            <a:r>
              <a:rPr lang="lt-LT" altLang="lt-LT" sz="2400" dirty="0"/>
              <a:t>visoms </a:t>
            </a:r>
            <a:r>
              <a:rPr lang="lt-LT" altLang="lt-LT" sz="2400" dirty="0" smtClean="0"/>
              <a:t>palaikomoms kalboms</a:t>
            </a:r>
            <a:r>
              <a:rPr lang="ru-RU" altLang="lt-LT" sz="2400" dirty="0" smtClean="0"/>
              <a:t> </a:t>
            </a:r>
            <a:endParaRPr lang="lt-LT" altLang="lt-LT" sz="2400" dirty="0" smtClean="0"/>
          </a:p>
          <a:p>
            <a:pPr marL="609600" indent="-609600">
              <a:lnSpc>
                <a:spcPct val="80000"/>
              </a:lnSpc>
            </a:pPr>
            <a:r>
              <a:rPr lang="lt-LT" altLang="lt-LT" sz="2400" dirty="0" smtClean="0"/>
              <a:t>Komponentų </a:t>
            </a:r>
            <a:r>
              <a:rPr lang="lt-LT" altLang="lt-LT" sz="2400" dirty="0"/>
              <a:t>ir </a:t>
            </a:r>
            <a:r>
              <a:rPr lang="lt-LT" altLang="lt-LT" sz="2400" dirty="0" err="1"/>
              <a:t>bildų</a:t>
            </a:r>
            <a:r>
              <a:rPr lang="lt-LT" altLang="lt-LT" sz="2400" dirty="0"/>
              <a:t> versijų </a:t>
            </a:r>
            <a:r>
              <a:rPr lang="lt-LT" altLang="lt-LT" sz="2400" dirty="0" smtClean="0"/>
              <a:t>palaikymas</a:t>
            </a:r>
            <a:endParaRPr lang="ru-RU" altLang="lt-LT" sz="2400" dirty="0"/>
          </a:p>
          <a:p>
            <a:pPr marL="609600" indent="-609600">
              <a:lnSpc>
                <a:spcPct val="80000"/>
              </a:lnSpc>
            </a:pPr>
            <a:r>
              <a:rPr lang="lt-LT" altLang="lt-LT" sz="2400" dirty="0"/>
              <a:t>Saugumo servisai </a:t>
            </a:r>
            <a:r>
              <a:rPr lang="ru-RU" altLang="lt-LT" sz="2400" dirty="0" smtClean="0"/>
              <a:t>(</a:t>
            </a:r>
            <a:r>
              <a:rPr lang="lt-LT" altLang="lt-LT" sz="2400" dirty="0" smtClean="0"/>
              <a:t>autorizuota prieiga prie </a:t>
            </a:r>
            <a:r>
              <a:rPr lang="lt-LT" altLang="lt-LT" sz="2400" dirty="0"/>
              <a:t>vartotojų resursų</a:t>
            </a:r>
            <a:r>
              <a:rPr lang="ru-RU" altLang="lt-LT" sz="2400" dirty="0"/>
              <a:t> – </a:t>
            </a:r>
            <a:r>
              <a:rPr lang="ru-RU" altLang="lt-LT" sz="2400" dirty="0" err="1"/>
              <a:t>role-based</a:t>
            </a:r>
            <a:r>
              <a:rPr lang="ru-RU" altLang="lt-LT" sz="2400" dirty="0"/>
              <a:t> </a:t>
            </a:r>
            <a:r>
              <a:rPr lang="ru-RU" altLang="lt-LT" sz="2400" dirty="0" err="1"/>
              <a:t>security</a:t>
            </a:r>
            <a:r>
              <a:rPr lang="ru-RU" altLang="lt-LT" sz="2400" dirty="0"/>
              <a:t>, </a:t>
            </a:r>
            <a:r>
              <a:rPr lang="lt-LT" altLang="lt-LT" sz="2400" dirty="0"/>
              <a:t>išeities kodo</a:t>
            </a:r>
            <a:r>
              <a:rPr lang="ru-RU" altLang="lt-LT" sz="2400" dirty="0"/>
              <a:t> – </a:t>
            </a:r>
            <a:r>
              <a:rPr lang="ru-RU" altLang="lt-LT" sz="2400" dirty="0" err="1"/>
              <a:t>code-based</a:t>
            </a:r>
            <a:r>
              <a:rPr lang="ru-RU" altLang="lt-LT" sz="2400" dirty="0"/>
              <a:t> </a:t>
            </a:r>
            <a:r>
              <a:rPr lang="ru-RU" altLang="lt-LT" sz="2400" dirty="0" err="1"/>
              <a:t>security</a:t>
            </a:r>
            <a:r>
              <a:rPr lang="ru-RU" altLang="lt-LT" sz="2400" dirty="0" smtClean="0"/>
              <a:t>)</a:t>
            </a:r>
            <a:endParaRPr lang="ru-RU" altLang="lt-LT" dirty="0"/>
          </a:p>
          <a:p>
            <a:endParaRPr lang="lt-LT" dirty="0"/>
          </a:p>
        </p:txBody>
      </p:sp>
    </p:spTree>
    <p:extLst>
      <p:ext uri="{BB962C8B-B14F-4D97-AF65-F5344CB8AC3E}">
        <p14:creationId xmlns:p14="http://schemas.microsoft.com/office/powerpoint/2010/main" val="1020397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763000" cy="1325563"/>
          </a:xfrm>
        </p:spPr>
        <p:txBody>
          <a:bodyPr/>
          <a:lstStyle/>
          <a:p>
            <a:r>
              <a:rPr lang="lt-LT" dirty="0" smtClean="0"/>
              <a:t>Tipinė WEB APP architektūra</a:t>
            </a:r>
            <a:endParaRPr lang="lt-LT"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1129" y="1298308"/>
            <a:ext cx="5399772" cy="539977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4604" y="2507703"/>
            <a:ext cx="4561905" cy="2752381"/>
          </a:xfrm>
          <a:prstGeom prst="rect">
            <a:avLst/>
          </a:prstGeom>
        </p:spPr>
      </p:pic>
      <p:sp>
        <p:nvSpPr>
          <p:cNvPr id="7" name="TextBox 6"/>
          <p:cNvSpPr txBox="1"/>
          <p:nvPr/>
        </p:nvSpPr>
        <p:spPr>
          <a:xfrm>
            <a:off x="8610600" y="2181225"/>
            <a:ext cx="2562225" cy="369332"/>
          </a:xfrm>
          <a:prstGeom prst="rect">
            <a:avLst/>
          </a:prstGeom>
          <a:noFill/>
        </p:spPr>
        <p:txBody>
          <a:bodyPr wrap="square" rtlCol="0">
            <a:spAutoFit/>
          </a:bodyPr>
          <a:lstStyle/>
          <a:p>
            <a:r>
              <a:rPr lang="lt-LT" dirty="0" smtClean="0"/>
              <a:t>N-</a:t>
            </a:r>
            <a:r>
              <a:rPr lang="lt-LT" dirty="0" err="1" smtClean="0"/>
              <a:t>Tier</a:t>
            </a:r>
            <a:r>
              <a:rPr lang="lt-LT" dirty="0" smtClean="0"/>
              <a:t> architektūra</a:t>
            </a:r>
            <a:endParaRPr lang="lt-LT" dirty="0"/>
          </a:p>
        </p:txBody>
      </p:sp>
    </p:spTree>
    <p:extLst>
      <p:ext uri="{BB962C8B-B14F-4D97-AF65-F5344CB8AC3E}">
        <p14:creationId xmlns:p14="http://schemas.microsoft.com/office/powerpoint/2010/main" val="10435214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smtClean="0"/>
              <a:t>Klausimai?</a:t>
            </a:r>
            <a:endParaRPr lang="lt-LT" dirty="0"/>
          </a:p>
        </p:txBody>
      </p:sp>
      <p:sp>
        <p:nvSpPr>
          <p:cNvPr id="3" name="Content Placeholder 2"/>
          <p:cNvSpPr>
            <a:spLocks noGrp="1"/>
          </p:cNvSpPr>
          <p:nvPr>
            <p:ph idx="1"/>
          </p:nvPr>
        </p:nvSpPr>
        <p:spPr/>
        <p:txBody>
          <a:bodyPr/>
          <a:lstStyle/>
          <a:p>
            <a:r>
              <a:rPr lang="lt-LT" dirty="0" smtClean="0"/>
              <a:t>Pastebėjimai</a:t>
            </a:r>
          </a:p>
          <a:p>
            <a:r>
              <a:rPr lang="lt-LT" dirty="0" smtClean="0"/>
              <a:t>Aptarimai</a:t>
            </a:r>
          </a:p>
          <a:p>
            <a:r>
              <a:rPr lang="lt-LT" dirty="0" smtClean="0"/>
              <a:t>Kaip </a:t>
            </a:r>
            <a:r>
              <a:rPr lang="lt-LT" dirty="0" smtClean="0"/>
              <a:t>tapti milijonieriumi</a:t>
            </a:r>
          </a:p>
          <a:p>
            <a:endParaRPr lang="lt-LT" dirty="0"/>
          </a:p>
        </p:txBody>
      </p:sp>
    </p:spTree>
    <p:extLst>
      <p:ext uri="{BB962C8B-B14F-4D97-AF65-F5344CB8AC3E}">
        <p14:creationId xmlns:p14="http://schemas.microsoft.com/office/powerpoint/2010/main" val="814104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t-LT" dirty="0" err="1" smtClean="0"/>
              <a:t>Uždavinukas</a:t>
            </a:r>
            <a:endParaRPr lang="lt-LT" dirty="0"/>
          </a:p>
        </p:txBody>
      </p:sp>
      <p:sp>
        <p:nvSpPr>
          <p:cNvPr id="3" name="Content Placeholder 2"/>
          <p:cNvSpPr>
            <a:spLocks noGrp="1"/>
          </p:cNvSpPr>
          <p:nvPr>
            <p:ph idx="1"/>
          </p:nvPr>
        </p:nvSpPr>
        <p:spPr/>
        <p:txBody>
          <a:bodyPr/>
          <a:lstStyle/>
          <a:p>
            <a:pPr marL="0" indent="0">
              <a:buNone/>
            </a:pPr>
            <a:r>
              <a:rPr lang="lt-LT" dirty="0"/>
              <a:t>IMDB </a:t>
            </a:r>
            <a:r>
              <a:rPr lang="lt-LT" dirty="0" err="1"/>
              <a:t>moovie</a:t>
            </a:r>
            <a:r>
              <a:rPr lang="lt-LT" dirty="0"/>
              <a:t> </a:t>
            </a:r>
            <a:r>
              <a:rPr lang="lt-LT" dirty="0" err="1" smtClean="0"/>
              <a:t>database</a:t>
            </a:r>
            <a:r>
              <a:rPr lang="lt-LT" dirty="0" smtClean="0"/>
              <a:t> </a:t>
            </a:r>
            <a:r>
              <a:rPr lang="lt-LT" dirty="0" err="1" smtClean="0"/>
              <a:t>WebService</a:t>
            </a:r>
            <a:r>
              <a:rPr lang="lt-LT" dirty="0" smtClean="0"/>
              <a:t> API</a:t>
            </a:r>
            <a:endParaRPr lang="lt-LT" dirty="0"/>
          </a:p>
          <a:p>
            <a:pPr marL="0" indent="0">
              <a:buNone/>
            </a:pPr>
            <a:r>
              <a:rPr lang="lt-LT" dirty="0" smtClean="0">
                <a:hlinkClick r:id="rId2"/>
              </a:rPr>
              <a:t>https</a:t>
            </a:r>
            <a:r>
              <a:rPr lang="lt-LT" dirty="0">
                <a:hlinkClick r:id="rId2"/>
              </a:rPr>
              <a:t>://</a:t>
            </a:r>
            <a:r>
              <a:rPr lang="lt-LT" dirty="0" smtClean="0">
                <a:hlinkClick r:id="rId2"/>
              </a:rPr>
              <a:t>www.themoviedb.org/documentation/api</a:t>
            </a:r>
            <a:endParaRPr lang="lt-LT" dirty="0" smtClean="0"/>
          </a:p>
          <a:p>
            <a:pPr marL="0" indent="0">
              <a:buNone/>
            </a:pPr>
            <a:endParaRPr lang="lt-LT" dirty="0"/>
          </a:p>
          <a:p>
            <a:pPr marL="0" indent="0">
              <a:buNone/>
            </a:pPr>
            <a:r>
              <a:rPr lang="lt-LT" dirty="0" smtClean="0"/>
              <a:t>Parašyti </a:t>
            </a:r>
            <a:r>
              <a:rPr lang="lt-LT" dirty="0" err="1" smtClean="0"/>
              <a:t>simple</a:t>
            </a:r>
            <a:r>
              <a:rPr lang="lt-LT" dirty="0" smtClean="0"/>
              <a:t> </a:t>
            </a:r>
            <a:r>
              <a:rPr lang="lt-LT" dirty="0" err="1" smtClean="0"/>
              <a:t>app</a:t>
            </a:r>
            <a:r>
              <a:rPr lang="lt-LT" dirty="0" smtClean="0"/>
              <a:t> (WEB, WF), kuri galėtų atlikti paiešką ir grąžinti rezultatą.</a:t>
            </a:r>
          </a:p>
          <a:p>
            <a:endParaRPr lang="lt-LT" dirty="0"/>
          </a:p>
        </p:txBody>
      </p:sp>
    </p:spTree>
    <p:extLst>
      <p:ext uri="{BB962C8B-B14F-4D97-AF65-F5344CB8AC3E}">
        <p14:creationId xmlns:p14="http://schemas.microsoft.com/office/powerpoint/2010/main" val="20346612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16157</TotalTime>
  <Words>1010</Words>
  <Application>Microsoft Office PowerPoint</Application>
  <PresentationFormat>Widescreen</PresentationFormat>
  <Paragraphs>148</Paragraphs>
  <Slides>19</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Open Sans Light</vt:lpstr>
      <vt:lpstr>Wingdings</vt:lpstr>
      <vt:lpstr>Office Theme</vt:lpstr>
      <vt:lpstr>Microsoft .NET</vt:lpstr>
      <vt:lpstr>Apie ką kalbėsime</vt:lpstr>
      <vt:lpstr>.NET projektai ASW (didieji)</vt:lpstr>
      <vt:lpstr>EDS architektūrinė schema</vt:lpstr>
      <vt:lpstr>Ko reikia, kad tapti programuotoju?</vt:lpstr>
      <vt:lpstr>Kur galima mokytis?</vt:lpstr>
      <vt:lpstr>Ko dar prireiks?</vt:lpstr>
      <vt:lpstr>Microsoft .NET, pradžia</vt:lpstr>
      <vt:lpstr>Kas yra Microsoft .NET</vt:lpstr>
      <vt:lpstr>.NET iš ideologijos taško</vt:lpstr>
      <vt:lpstr>.NET kaip gyvenimo ciklo modelis</vt:lpstr>
      <vt:lpstr>.NET kaip gyvenimo ciklo modelis WebServices</vt:lpstr>
      <vt:lpstr>.NET kaip technologinė platforma </vt:lpstr>
      <vt:lpstr>.NET kaip universalus kūrimo instrumentas</vt:lpstr>
      <vt:lpstr>.NET architektūra</vt:lpstr>
      <vt:lpstr>CLR: Pagrindinės galimybės</vt:lpstr>
      <vt:lpstr>Tipinė WEB APP architektūra</vt:lpstr>
      <vt:lpstr>Klausimai?</vt:lpstr>
      <vt:lpstr>Uždavinukas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Robertas Rimas</cp:lastModifiedBy>
  <cp:revision>166</cp:revision>
  <cp:lastPrinted>2017-11-06T08:54:18Z</cp:lastPrinted>
  <dcterms:created xsi:type="dcterms:W3CDTF">2017-09-27T12:27:37Z</dcterms:created>
  <dcterms:modified xsi:type="dcterms:W3CDTF">2017-11-21T15:12:58Z</dcterms:modified>
</cp:coreProperties>
</file>